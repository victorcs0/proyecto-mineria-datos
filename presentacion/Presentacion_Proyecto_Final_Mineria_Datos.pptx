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4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24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título del proyecto y explicar que se combinaron dos técnicas: K-Means para segmentar clientes y regresión logística para predecir suscripción.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problema y la ruta general. La idea es pasar de datos de compra a perfiles y después a una predicción útil.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archivo es adecuado porque tiene suficientes registros, variables numéricas y una variable objetivo de suscripción para la parte predictiva.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limpieza no significa siempre borrar datos. Aquí se comprobó que no había nulos ni duplicados, y se prepararon variables para los algoritmos.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estas medidas muestran el perfil promedio y ayudan a interpretar los segmentos posteriores.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las gráficas más importantes del análisis exploratorio y decir qué patrón muestra cada una.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K-Means agrupa sin conocer etiquetas previas. K=4 se eligió por el método del codo y porque permite perfiles claros.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Interpretar cada cluster. El punto central es que cada grupo sugiere acciones comerciales diferentes.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modelo supera la referencia. Interpretar la matriz: detecta todos los Yes, pero clasifica 185 No como Yes.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el proyecto no solo ejecuta modelos: traduce resultados en recomendaciones prácticas.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la idea de que el proyecto cumplió con clustering, visualizaciones, predicción, conclusiones y recomendaciones.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274" y="20548"/>
            <a:ext cx="12191695" cy="6858000"/>
          </a:xfrm>
          <a:prstGeom prst="rect">
            <a:avLst/>
          </a:prstGeom>
          <a:no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685800" y="960120"/>
            <a:ext cx="7040880" cy="1143000"/>
          </a:xfrm>
          <a:prstGeom prst="rect">
            <a:avLst/>
          </a:prstGeom>
          <a:noFill/>
          <a:ln/>
        </p:spPr>
        <p:txBody>
          <a:bodyPr wrap="square" lIns="0" tIns="0" rIns="0" bIns="0" rtlCol="0" anchor="ctr">
            <a:normAutofit/>
          </a:bodyPr>
          <a:lstStyle/>
          <a:p>
            <a:pPr marL="0" indent="0">
              <a:buNone/>
            </a:pPr>
            <a:r>
              <a:rPr lang="en-US" sz="3300" b="1" dirty="0">
                <a:solidFill>
                  <a:srgbClr val="153B50"/>
                </a:solidFill>
                <a:latin typeface="Aptos Display" pitchFamily="34" charset="0"/>
                <a:ea typeface="Aptos Display" pitchFamily="34" charset="-122"/>
                <a:cs typeface="Aptos Display" pitchFamily="34" charset="-120"/>
              </a:rPr>
              <a:t>Análisis y segmentación del comportamiento de compra de clientes</a:t>
            </a:r>
            <a:endParaRPr lang="en-US" sz="3300" dirty="0"/>
          </a:p>
        </p:txBody>
      </p:sp>
      <p:sp>
        <p:nvSpPr>
          <p:cNvPr id="5" name="Text 3"/>
          <p:cNvSpPr/>
          <p:nvPr/>
        </p:nvSpPr>
        <p:spPr>
          <a:xfrm>
            <a:off x="713232" y="2240280"/>
            <a:ext cx="6126480" cy="320040"/>
          </a:xfrm>
          <a:prstGeom prst="rect">
            <a:avLst/>
          </a:prstGeom>
          <a:noFill/>
          <a:ln/>
        </p:spPr>
        <p:txBody>
          <a:bodyPr wrap="square" lIns="0" tIns="0" rIns="0" bIns="0" rtlCol="0" anchor="ctr"/>
          <a:lstStyle/>
          <a:p>
            <a:pPr marL="0" indent="0">
              <a:buNone/>
            </a:pPr>
            <a:r>
              <a:rPr lang="en-US" sz="1800" b="1" dirty="0">
                <a:solidFill>
                  <a:srgbClr val="1C7C7D"/>
                </a:solidFill>
              </a:rPr>
              <a:t>Proyecto final - Minería de Datos</a:t>
            </a:r>
            <a:endParaRPr lang="en-US" sz="1800" dirty="0"/>
          </a:p>
        </p:txBody>
      </p:sp>
      <p:sp>
        <p:nvSpPr>
          <p:cNvPr id="6" name="Text 4"/>
          <p:cNvSpPr/>
          <p:nvPr/>
        </p:nvSpPr>
        <p:spPr>
          <a:xfrm>
            <a:off x="731520" y="2697480"/>
            <a:ext cx="6583680" cy="731520"/>
          </a:xfrm>
          <a:prstGeom prst="rect">
            <a:avLst/>
          </a:prstGeom>
          <a:noFill/>
          <a:ln/>
        </p:spPr>
        <p:txBody>
          <a:bodyPr wrap="square" lIns="0" tIns="0" rIns="0" bIns="0" rtlCol="0" anchor="ctr"/>
          <a:lstStyle/>
          <a:p>
            <a:pPr marL="0" indent="0">
              <a:buNone/>
            </a:pPr>
            <a:r>
              <a:rPr lang="en-US" sz="1600" dirty="0">
                <a:solidFill>
                  <a:srgbClr val="1A1F2B"/>
                </a:solidFill>
              </a:rPr>
              <a:t>Ruta: segmentación de clientes con K-Means</a:t>
            </a:r>
            <a:endParaRPr lang="en-US" sz="1600" dirty="0"/>
          </a:p>
          <a:p>
            <a:pPr marL="0" indent="0">
              <a:buNone/>
            </a:pPr>
            <a:r>
              <a:rPr lang="en-US" sz="1600" dirty="0">
                <a:solidFill>
                  <a:srgbClr val="1A1F2B"/>
                </a:solidFill>
              </a:rPr>
              <a:t>Segundo componente: analítica predictiva con regresión logística</a:t>
            </a:r>
            <a:endParaRPr lang="en-US" sz="1600" dirty="0"/>
          </a:p>
        </p:txBody>
      </p:sp>
      <p:sp>
        <p:nvSpPr>
          <p:cNvPr id="7" name="Text 5"/>
          <p:cNvSpPr/>
          <p:nvPr/>
        </p:nvSpPr>
        <p:spPr>
          <a:xfrm>
            <a:off x="7909560" y="1280160"/>
            <a:ext cx="1737360" cy="347472"/>
          </a:xfrm>
          <a:prstGeom prst="rect">
            <a:avLst/>
          </a:prstGeom>
          <a:noFill/>
          <a:ln/>
        </p:spPr>
        <p:txBody>
          <a:bodyPr wrap="square" lIns="0" tIns="0" rIns="0" bIns="0" rtlCol="0" anchor="ctr"/>
          <a:lstStyle/>
          <a:p>
            <a:pPr marL="0" indent="0" algn="ctr">
              <a:buNone/>
            </a:pPr>
            <a:r>
              <a:rPr lang="en-US" sz="2400" b="1" dirty="0">
                <a:solidFill>
                  <a:srgbClr val="153B50"/>
                </a:solidFill>
              </a:rPr>
              <a:t>3,900</a:t>
            </a:r>
            <a:endParaRPr lang="en-US" sz="2400" dirty="0"/>
          </a:p>
        </p:txBody>
      </p:sp>
      <p:sp>
        <p:nvSpPr>
          <p:cNvPr id="8" name="Text 6"/>
          <p:cNvSpPr/>
          <p:nvPr/>
        </p:nvSpPr>
        <p:spPr>
          <a:xfrm>
            <a:off x="7909560" y="166420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registros</a:t>
            </a:r>
            <a:endParaRPr lang="en-US" sz="1050" dirty="0"/>
          </a:p>
        </p:txBody>
      </p:sp>
      <p:sp>
        <p:nvSpPr>
          <p:cNvPr id="9" name="Text 7"/>
          <p:cNvSpPr/>
          <p:nvPr/>
        </p:nvSpPr>
        <p:spPr>
          <a:xfrm>
            <a:off x="9738360" y="1280160"/>
            <a:ext cx="1737360" cy="347472"/>
          </a:xfrm>
          <a:prstGeom prst="rect">
            <a:avLst/>
          </a:prstGeom>
          <a:noFill/>
          <a:ln/>
        </p:spPr>
        <p:txBody>
          <a:bodyPr wrap="square" lIns="0" tIns="0" rIns="0" bIns="0" rtlCol="0" anchor="ctr"/>
          <a:lstStyle/>
          <a:p>
            <a:pPr marL="0" indent="0" algn="ctr">
              <a:buNone/>
            </a:pPr>
            <a:r>
              <a:rPr lang="en-US" sz="2400" b="1" dirty="0">
                <a:solidFill>
                  <a:srgbClr val="1C7C7D"/>
                </a:solidFill>
              </a:rPr>
              <a:t>19</a:t>
            </a:r>
            <a:endParaRPr lang="en-US" sz="2400" dirty="0"/>
          </a:p>
        </p:txBody>
      </p:sp>
      <p:sp>
        <p:nvSpPr>
          <p:cNvPr id="10" name="Text 8"/>
          <p:cNvSpPr/>
          <p:nvPr/>
        </p:nvSpPr>
        <p:spPr>
          <a:xfrm>
            <a:off x="9738360" y="166420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variables</a:t>
            </a:r>
            <a:endParaRPr lang="en-US" sz="1050" dirty="0"/>
          </a:p>
        </p:txBody>
      </p:sp>
      <p:sp>
        <p:nvSpPr>
          <p:cNvPr id="11" name="Text 9"/>
          <p:cNvSpPr/>
          <p:nvPr/>
        </p:nvSpPr>
        <p:spPr>
          <a:xfrm>
            <a:off x="7909560" y="2423160"/>
            <a:ext cx="1737360" cy="347472"/>
          </a:xfrm>
          <a:prstGeom prst="rect">
            <a:avLst/>
          </a:prstGeom>
          <a:noFill/>
          <a:ln/>
        </p:spPr>
        <p:txBody>
          <a:bodyPr wrap="square" lIns="0" tIns="0" rIns="0" bIns="0" rtlCol="0" anchor="ctr"/>
          <a:lstStyle/>
          <a:p>
            <a:pPr marL="0" indent="0" algn="ctr">
              <a:buNone/>
            </a:pPr>
            <a:r>
              <a:rPr lang="en-US" sz="2400" b="1" dirty="0">
                <a:solidFill>
                  <a:srgbClr val="EAA43A"/>
                </a:solidFill>
              </a:rPr>
              <a:t>4</a:t>
            </a:r>
            <a:endParaRPr lang="en-US" sz="2400" dirty="0"/>
          </a:p>
        </p:txBody>
      </p:sp>
      <p:sp>
        <p:nvSpPr>
          <p:cNvPr id="12" name="Text 10"/>
          <p:cNvSpPr/>
          <p:nvPr/>
        </p:nvSpPr>
        <p:spPr>
          <a:xfrm>
            <a:off x="7909560" y="280720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clusters</a:t>
            </a:r>
            <a:endParaRPr lang="en-US" sz="1050" dirty="0"/>
          </a:p>
        </p:txBody>
      </p:sp>
      <p:sp>
        <p:nvSpPr>
          <p:cNvPr id="13" name="Text 11"/>
          <p:cNvSpPr/>
          <p:nvPr/>
        </p:nvSpPr>
        <p:spPr>
          <a:xfrm>
            <a:off x="9738360" y="2423160"/>
            <a:ext cx="1737360" cy="347472"/>
          </a:xfrm>
          <a:prstGeom prst="rect">
            <a:avLst/>
          </a:prstGeom>
          <a:noFill/>
          <a:ln/>
        </p:spPr>
        <p:txBody>
          <a:bodyPr wrap="square" lIns="0" tIns="0" rIns="0" bIns="0" rtlCol="0" anchor="ctr"/>
          <a:lstStyle/>
          <a:p>
            <a:pPr marL="0" indent="0" algn="ctr">
              <a:buNone/>
            </a:pPr>
            <a:r>
              <a:rPr lang="en-US" sz="2400" b="1" dirty="0">
                <a:solidFill>
                  <a:srgbClr val="F08A4B"/>
                </a:solidFill>
              </a:rPr>
              <a:t>84.19%</a:t>
            </a:r>
            <a:endParaRPr lang="en-US" sz="2400" dirty="0"/>
          </a:p>
        </p:txBody>
      </p:sp>
      <p:sp>
        <p:nvSpPr>
          <p:cNvPr id="14" name="Text 12"/>
          <p:cNvSpPr/>
          <p:nvPr/>
        </p:nvSpPr>
        <p:spPr>
          <a:xfrm>
            <a:off x="9738360" y="280720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exactitud</a:t>
            </a:r>
            <a:endParaRPr lang="en-US" sz="1050" dirty="0"/>
          </a:p>
        </p:txBody>
      </p:sp>
      <p:sp>
        <p:nvSpPr>
          <p:cNvPr id="15" name="Shape 13"/>
          <p:cNvSpPr/>
          <p:nvPr/>
        </p:nvSpPr>
        <p:spPr>
          <a:xfrm>
            <a:off x="7818120" y="3794760"/>
            <a:ext cx="3566160" cy="0"/>
          </a:xfrm>
          <a:prstGeom prst="line">
            <a:avLst/>
          </a:prstGeom>
          <a:noFill/>
          <a:ln w="12700">
            <a:solidFill>
              <a:srgbClr val="D8E1E8"/>
            </a:solidFill>
            <a:prstDash val="solid"/>
          </a:ln>
        </p:spPr>
      </p:sp>
      <p:sp>
        <p:nvSpPr>
          <p:cNvPr id="16" name="Text 14"/>
          <p:cNvSpPr/>
          <p:nvPr/>
        </p:nvSpPr>
        <p:spPr>
          <a:xfrm>
            <a:off x="7909560" y="4160520"/>
            <a:ext cx="3200400" cy="274320"/>
          </a:xfrm>
          <a:prstGeom prst="rect">
            <a:avLst/>
          </a:prstGeom>
          <a:noFill/>
          <a:ln/>
        </p:spPr>
        <p:txBody>
          <a:bodyPr wrap="square" lIns="0" tIns="0" rIns="0" bIns="0" rtlCol="0" anchor="ctr"/>
          <a:lstStyle/>
          <a:p>
            <a:pPr marL="0" indent="0">
              <a:buNone/>
            </a:pPr>
            <a:r>
              <a:rPr lang="en-US" sz="1700" b="1" dirty="0">
                <a:solidFill>
                  <a:srgbClr val="153B50"/>
                </a:solidFill>
              </a:rPr>
              <a:t>Equipo</a:t>
            </a:r>
            <a:endParaRPr lang="en-US" sz="1700" dirty="0"/>
          </a:p>
        </p:txBody>
      </p:sp>
      <p:sp>
        <p:nvSpPr>
          <p:cNvPr id="17" name="Text 15"/>
          <p:cNvSpPr/>
          <p:nvPr/>
        </p:nvSpPr>
        <p:spPr>
          <a:xfrm>
            <a:off x="7909560" y="4572000"/>
            <a:ext cx="3429000" cy="960120"/>
          </a:xfrm>
          <a:prstGeom prst="rect">
            <a:avLst/>
          </a:prstGeom>
          <a:noFill/>
          <a:ln/>
        </p:spPr>
        <p:txBody>
          <a:bodyPr wrap="square" lIns="0" tIns="0" rIns="0" bIns="0" rtlCol="0" anchor="ctr">
            <a:normAutofit/>
          </a:bodyPr>
          <a:lstStyle/>
          <a:p>
            <a:pPr marL="0" indent="0">
              <a:buNone/>
            </a:pPr>
            <a:r>
              <a:rPr lang="en-US" sz="1150" dirty="0">
                <a:solidFill>
                  <a:srgbClr val="1A1F2B"/>
                </a:solidFill>
              </a:rPr>
              <a:t>Víctor Abraham Campos Sánchez</a:t>
            </a:r>
            <a:endParaRPr lang="en-US" sz="1150" dirty="0"/>
          </a:p>
          <a:p>
            <a:pPr marL="0" indent="0">
              <a:buNone/>
            </a:pPr>
            <a:r>
              <a:rPr lang="en-US" sz="1150" dirty="0">
                <a:solidFill>
                  <a:srgbClr val="1A1F2B"/>
                </a:solidFill>
              </a:rPr>
              <a:t>José Juan Carlos Ocampo Cruz</a:t>
            </a:r>
            <a:endParaRPr lang="en-US" sz="1150" dirty="0"/>
          </a:p>
          <a:p>
            <a:pPr marL="0" indent="0">
              <a:buNone/>
            </a:pPr>
            <a:r>
              <a:rPr lang="en-US" sz="1150" dirty="0">
                <a:solidFill>
                  <a:srgbClr val="1A1F2B"/>
                </a:solidFill>
              </a:rPr>
              <a:t>Diego Jiménez Morales</a:t>
            </a:r>
            <a:endParaRPr lang="en-US" sz="1150" dirty="0"/>
          </a:p>
          <a:p>
            <a:pPr marL="0" indent="0">
              <a:buNone/>
            </a:pPr>
            <a:r>
              <a:rPr lang="en-US" sz="1150" dirty="0">
                <a:solidFill>
                  <a:srgbClr val="1A1F2B"/>
                </a:solidFill>
              </a:rPr>
              <a:t>Alan Fernando Téllez Celaya</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Problema y objetivo</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Qué buscamos resolver con el análisis</a:t>
            </a:r>
            <a:endParaRPr lang="en-US" sz="1250" dirty="0"/>
          </a:p>
        </p:txBody>
      </p:sp>
      <p:sp>
        <p:nvSpPr>
          <p:cNvPr id="6" name="Text 4"/>
          <p:cNvSpPr/>
          <p:nvPr/>
        </p:nvSpPr>
        <p:spPr>
          <a:xfrm>
            <a:off x="594360" y="1234440"/>
            <a:ext cx="2926080" cy="320040"/>
          </a:xfrm>
          <a:prstGeom prst="rect">
            <a:avLst/>
          </a:prstGeom>
          <a:noFill/>
          <a:ln/>
        </p:spPr>
        <p:txBody>
          <a:bodyPr wrap="square" lIns="0" tIns="0" rIns="0" bIns="0" rtlCol="0" anchor="ctr"/>
          <a:lstStyle/>
          <a:p>
            <a:pPr marL="0" indent="0">
              <a:buNone/>
            </a:pPr>
            <a:r>
              <a:rPr lang="en-US" sz="1700" b="1" dirty="0">
                <a:solidFill>
                  <a:srgbClr val="1C7C7D"/>
                </a:solidFill>
              </a:rPr>
              <a:t>Pregunta principal</a:t>
            </a:r>
            <a:endParaRPr lang="en-US" sz="1700" dirty="0"/>
          </a:p>
        </p:txBody>
      </p:sp>
      <p:sp>
        <p:nvSpPr>
          <p:cNvPr id="7" name="Text 5"/>
          <p:cNvSpPr/>
          <p:nvPr/>
        </p:nvSpPr>
        <p:spPr>
          <a:xfrm>
            <a:off x="594360" y="1673352"/>
            <a:ext cx="5303520" cy="1005840"/>
          </a:xfrm>
          <a:prstGeom prst="rect">
            <a:avLst/>
          </a:prstGeom>
          <a:noFill/>
          <a:ln/>
        </p:spPr>
        <p:txBody>
          <a:bodyPr wrap="square" lIns="0" tIns="0" rIns="0" bIns="0" rtlCol="0" anchor="ctr">
            <a:normAutofit lnSpcReduction="10000"/>
          </a:bodyPr>
          <a:lstStyle/>
          <a:p>
            <a:pPr marL="0" indent="0">
              <a:buNone/>
            </a:pPr>
            <a:r>
              <a:rPr lang="en-US" sz="1700" dirty="0">
                <a:solidFill>
                  <a:srgbClr val="1A1F2B"/>
                </a:solidFill>
              </a:rPr>
              <a:t>¿Qué perfiles de clientes pueden identificarse a partir de edad, compra, calificación e historial, y qué tan útil es un modelo para estimar si un cliente cuenta con suscripción?</a:t>
            </a:r>
            <a:endParaRPr lang="en-US" sz="1700" dirty="0"/>
          </a:p>
        </p:txBody>
      </p:sp>
      <p:sp>
        <p:nvSpPr>
          <p:cNvPr id="8" name="Text 6"/>
          <p:cNvSpPr/>
          <p:nvPr/>
        </p:nvSpPr>
        <p:spPr>
          <a:xfrm>
            <a:off x="6400800" y="1234440"/>
            <a:ext cx="2926080" cy="320040"/>
          </a:xfrm>
          <a:prstGeom prst="rect">
            <a:avLst/>
          </a:prstGeom>
          <a:noFill/>
          <a:ln/>
        </p:spPr>
        <p:txBody>
          <a:bodyPr wrap="square" lIns="0" tIns="0" rIns="0" bIns="0" rtlCol="0" anchor="ctr"/>
          <a:lstStyle/>
          <a:p>
            <a:pPr marL="0" indent="0">
              <a:buNone/>
            </a:pPr>
            <a:r>
              <a:rPr lang="en-US" sz="1700" b="1" dirty="0">
                <a:solidFill>
                  <a:srgbClr val="1C7C7D"/>
                </a:solidFill>
              </a:rPr>
              <a:t>Objetivo general</a:t>
            </a:r>
            <a:endParaRPr lang="en-US" sz="1700" dirty="0"/>
          </a:p>
        </p:txBody>
      </p:sp>
      <p:sp>
        <p:nvSpPr>
          <p:cNvPr id="9" name="Text 7"/>
          <p:cNvSpPr/>
          <p:nvPr/>
        </p:nvSpPr>
        <p:spPr>
          <a:xfrm>
            <a:off x="6400800" y="1691640"/>
            <a:ext cx="4892040" cy="1600200"/>
          </a:xfrm>
          <a:prstGeom prst="rect">
            <a:avLst/>
          </a:prstGeom>
          <a:noFill/>
          <a:ln/>
        </p:spPr>
        <p:txBody>
          <a:bodyPr wrap="square" lIns="635" tIns="635" rIns="635" bIns="635" rtlCol="0" anchor="t">
            <a:normAutofit/>
          </a:bodyPr>
          <a:lstStyle/>
          <a:p>
            <a:r>
              <a:rPr lang="en-US" sz="1450" dirty="0">
                <a:solidFill>
                  <a:srgbClr val="1A1F2B"/>
                </a:solidFill>
              </a:rPr>
              <a:t>Analizar comportamiento de compra.</a:t>
            </a:r>
            <a:endParaRPr lang="en-US" sz="1450" dirty="0"/>
          </a:p>
          <a:p>
            <a:r>
              <a:rPr lang="en-US" sz="1450" dirty="0">
                <a:solidFill>
                  <a:srgbClr val="1A1F2B"/>
                </a:solidFill>
              </a:rPr>
              <a:t>Descubrir patrones con análisis exploratorio.</a:t>
            </a:r>
            <a:endParaRPr lang="en-US" sz="1450" dirty="0"/>
          </a:p>
          <a:p>
            <a:r>
              <a:rPr lang="en-US" sz="1450" dirty="0">
                <a:solidFill>
                  <a:srgbClr val="1A1F2B"/>
                </a:solidFill>
              </a:rPr>
              <a:t>Segmentar consumidores con K-Means.</a:t>
            </a:r>
            <a:endParaRPr lang="en-US" sz="1450" dirty="0"/>
          </a:p>
          <a:p>
            <a:r>
              <a:rPr lang="en-US" sz="1450" dirty="0">
                <a:solidFill>
                  <a:srgbClr val="1A1F2B"/>
                </a:solidFill>
              </a:rPr>
              <a:t>Evaluar predicción de suscripción.</a:t>
            </a:r>
            <a:endParaRPr lang="en-US" sz="1450" dirty="0"/>
          </a:p>
        </p:txBody>
      </p:sp>
      <p:sp>
        <p:nvSpPr>
          <p:cNvPr id="10" name="Shape 8"/>
          <p:cNvSpPr/>
          <p:nvPr/>
        </p:nvSpPr>
        <p:spPr>
          <a:xfrm>
            <a:off x="658368" y="3657600"/>
            <a:ext cx="10789920" cy="0"/>
          </a:xfrm>
          <a:prstGeom prst="line">
            <a:avLst/>
          </a:prstGeom>
          <a:noFill/>
          <a:ln w="12700">
            <a:solidFill>
              <a:srgbClr val="D8E1E8"/>
            </a:solidFill>
            <a:prstDash val="solid"/>
          </a:ln>
        </p:spPr>
      </p:sp>
      <p:sp>
        <p:nvSpPr>
          <p:cNvPr id="11" name="Shape 9"/>
          <p:cNvSpPr/>
          <p:nvPr/>
        </p:nvSpPr>
        <p:spPr>
          <a:xfrm>
            <a:off x="914400" y="4206240"/>
            <a:ext cx="1325880" cy="329184"/>
          </a:xfrm>
          <a:prstGeom prst="roundRect">
            <a:avLst>
              <a:gd name="adj" fmla="val 16667"/>
            </a:avLst>
          </a:prstGeom>
          <a:solidFill>
            <a:srgbClr val="153B50"/>
          </a:solidFill>
          <a:ln w="12700">
            <a:solidFill>
              <a:srgbClr val="153B50">
                <a:alpha val="0"/>
              </a:srgbClr>
            </a:solidFill>
            <a:prstDash val="solid"/>
          </a:ln>
        </p:spPr>
      </p:sp>
      <p:sp>
        <p:nvSpPr>
          <p:cNvPr id="12" name="Text 10"/>
          <p:cNvSpPr/>
          <p:nvPr/>
        </p:nvSpPr>
        <p:spPr>
          <a:xfrm>
            <a:off x="987552" y="4279392"/>
            <a:ext cx="1179576" cy="155448"/>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1. Datos</a:t>
            </a:r>
            <a:endParaRPr lang="en-US" sz="880" dirty="0"/>
          </a:p>
        </p:txBody>
      </p:sp>
      <p:sp>
        <p:nvSpPr>
          <p:cNvPr id="13" name="Shape 11"/>
          <p:cNvSpPr/>
          <p:nvPr/>
        </p:nvSpPr>
        <p:spPr>
          <a:xfrm>
            <a:off x="2880360" y="4206240"/>
            <a:ext cx="1600200" cy="329184"/>
          </a:xfrm>
          <a:prstGeom prst="roundRect">
            <a:avLst>
              <a:gd name="adj" fmla="val 16667"/>
            </a:avLst>
          </a:prstGeom>
          <a:solidFill>
            <a:srgbClr val="1C7C7D"/>
          </a:solidFill>
          <a:ln w="12700">
            <a:solidFill>
              <a:srgbClr val="1C7C7D">
                <a:alpha val="0"/>
              </a:srgbClr>
            </a:solidFill>
            <a:prstDash val="solid"/>
          </a:ln>
        </p:spPr>
      </p:sp>
      <p:sp>
        <p:nvSpPr>
          <p:cNvPr id="14" name="Text 12"/>
          <p:cNvSpPr/>
          <p:nvPr/>
        </p:nvSpPr>
        <p:spPr>
          <a:xfrm>
            <a:off x="2953512" y="4279392"/>
            <a:ext cx="1453896" cy="155448"/>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2. Limpieza</a:t>
            </a:r>
            <a:endParaRPr lang="en-US" sz="880" dirty="0"/>
          </a:p>
        </p:txBody>
      </p:sp>
      <p:sp>
        <p:nvSpPr>
          <p:cNvPr id="15" name="Shape 13"/>
          <p:cNvSpPr/>
          <p:nvPr/>
        </p:nvSpPr>
        <p:spPr>
          <a:xfrm>
            <a:off x="5166360" y="4206240"/>
            <a:ext cx="1783080" cy="329184"/>
          </a:xfrm>
          <a:prstGeom prst="roundRect">
            <a:avLst>
              <a:gd name="adj" fmla="val 16667"/>
            </a:avLst>
          </a:prstGeom>
          <a:solidFill>
            <a:srgbClr val="EAA43A"/>
          </a:solidFill>
          <a:ln w="12700">
            <a:solidFill>
              <a:srgbClr val="EAA43A">
                <a:alpha val="0"/>
              </a:srgbClr>
            </a:solidFill>
            <a:prstDash val="solid"/>
          </a:ln>
        </p:spPr>
      </p:sp>
      <p:sp>
        <p:nvSpPr>
          <p:cNvPr id="16" name="Text 14"/>
          <p:cNvSpPr/>
          <p:nvPr/>
        </p:nvSpPr>
        <p:spPr>
          <a:xfrm>
            <a:off x="5239512" y="4279392"/>
            <a:ext cx="1636776" cy="155448"/>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3. Visualización</a:t>
            </a:r>
            <a:endParaRPr lang="en-US" sz="880" dirty="0"/>
          </a:p>
        </p:txBody>
      </p:sp>
      <p:sp>
        <p:nvSpPr>
          <p:cNvPr id="17" name="Shape 15"/>
          <p:cNvSpPr/>
          <p:nvPr/>
        </p:nvSpPr>
        <p:spPr>
          <a:xfrm>
            <a:off x="7452360" y="4206240"/>
            <a:ext cx="1508760" cy="329184"/>
          </a:xfrm>
          <a:prstGeom prst="roundRect">
            <a:avLst>
              <a:gd name="adj" fmla="val 16667"/>
            </a:avLst>
          </a:prstGeom>
          <a:solidFill>
            <a:srgbClr val="F08A4B"/>
          </a:solidFill>
          <a:ln w="12700">
            <a:solidFill>
              <a:srgbClr val="F08A4B">
                <a:alpha val="0"/>
              </a:srgbClr>
            </a:solidFill>
            <a:prstDash val="solid"/>
          </a:ln>
        </p:spPr>
      </p:sp>
      <p:sp>
        <p:nvSpPr>
          <p:cNvPr id="18" name="Text 16"/>
          <p:cNvSpPr/>
          <p:nvPr/>
        </p:nvSpPr>
        <p:spPr>
          <a:xfrm>
            <a:off x="7525512" y="4279392"/>
            <a:ext cx="1362456" cy="155448"/>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4. K-Means</a:t>
            </a:r>
            <a:endParaRPr lang="en-US" sz="880" dirty="0"/>
          </a:p>
        </p:txBody>
      </p:sp>
      <p:sp>
        <p:nvSpPr>
          <p:cNvPr id="19" name="Shape 17"/>
          <p:cNvSpPr/>
          <p:nvPr/>
        </p:nvSpPr>
        <p:spPr>
          <a:xfrm>
            <a:off x="9464040" y="4206240"/>
            <a:ext cx="1737360" cy="329184"/>
          </a:xfrm>
          <a:prstGeom prst="roundRect">
            <a:avLst>
              <a:gd name="adj" fmla="val 16667"/>
            </a:avLst>
          </a:prstGeom>
          <a:solidFill>
            <a:srgbClr val="2A75BB"/>
          </a:solidFill>
          <a:ln w="12700">
            <a:solidFill>
              <a:srgbClr val="2A75BB">
                <a:alpha val="0"/>
              </a:srgbClr>
            </a:solidFill>
            <a:prstDash val="solid"/>
          </a:ln>
        </p:spPr>
      </p:sp>
      <p:sp>
        <p:nvSpPr>
          <p:cNvPr id="20" name="Text 18"/>
          <p:cNvSpPr/>
          <p:nvPr/>
        </p:nvSpPr>
        <p:spPr>
          <a:xfrm>
            <a:off x="9537192" y="4279392"/>
            <a:ext cx="1591056" cy="155448"/>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5. Predicción</a:t>
            </a:r>
            <a:endParaRPr lang="en-US" sz="880" dirty="0"/>
          </a:p>
        </p:txBody>
      </p:sp>
      <p:sp>
        <p:nvSpPr>
          <p:cNvPr id="21" name="Text 19"/>
          <p:cNvSpPr/>
          <p:nvPr/>
        </p:nvSpPr>
        <p:spPr>
          <a:xfrm>
            <a:off x="3108960" y="4800600"/>
            <a:ext cx="5943600" cy="310896"/>
          </a:xfrm>
          <a:prstGeom prst="rect">
            <a:avLst/>
          </a:prstGeom>
          <a:noFill/>
          <a:ln/>
        </p:spPr>
        <p:txBody>
          <a:bodyPr wrap="square" lIns="0" tIns="0" rIns="0" bIns="0" rtlCol="0" anchor="ctr"/>
          <a:lstStyle/>
          <a:p>
            <a:pPr marL="0" indent="0" algn="ctr">
              <a:buNone/>
            </a:pPr>
            <a:r>
              <a:rPr lang="en-US" sz="1700" b="1" dirty="0">
                <a:solidFill>
                  <a:srgbClr val="153B50"/>
                </a:solidFill>
              </a:rPr>
              <a:t>Flujo de trabajo del proyecto</a:t>
            </a:r>
            <a:endParaRPr lang="en-US" sz="1700" dirty="0"/>
          </a:p>
        </p:txBody>
      </p:sp>
      <p:sp>
        <p:nvSpPr>
          <p:cNvPr id="22" name="Text 20"/>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Víctor Abraham Campos Sánchez</a:t>
            </a:r>
            <a:endParaRPr lang="en-US" sz="850" dirty="0"/>
          </a:p>
        </p:txBody>
      </p:sp>
      <p:sp>
        <p:nvSpPr>
          <p:cNvPr id="23" name="Text 21"/>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4514"/>
            <a:ext cx="12191695" cy="6858000"/>
          </a:xfrm>
          <a:prstGeom prst="rect">
            <a:avLst/>
          </a:prstGeom>
          <a:solidFill>
            <a:srgbClr val="FFFFFF"/>
          </a:solidFill>
          <a:ln w="12700">
            <a:solidFill>
              <a:srgbClr val="FFFFFF">
                <a:alpha val="0"/>
              </a:srgbClr>
            </a:solidFill>
            <a:prstDash val="solid"/>
          </a:ln>
        </p:spPr>
        <p:txBody>
          <a:bodyPr/>
          <a:lstStyle/>
          <a:p>
            <a:endParaRPr lang="es-MX" dirty="0"/>
          </a:p>
        </p:txBody>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Dataset utilizado</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Customer Shopping Trends Dataset, Kaggle</a:t>
            </a:r>
            <a:endParaRPr lang="en-US" sz="1250" dirty="0"/>
          </a:p>
        </p:txBody>
      </p:sp>
      <p:sp>
        <p:nvSpPr>
          <p:cNvPr id="6" name="Text 4"/>
          <p:cNvSpPr/>
          <p:nvPr/>
        </p:nvSpPr>
        <p:spPr>
          <a:xfrm>
            <a:off x="822960" y="1325880"/>
            <a:ext cx="1737360" cy="347472"/>
          </a:xfrm>
          <a:prstGeom prst="rect">
            <a:avLst/>
          </a:prstGeom>
          <a:noFill/>
          <a:ln/>
        </p:spPr>
        <p:txBody>
          <a:bodyPr wrap="square" lIns="0" tIns="0" rIns="0" bIns="0" rtlCol="0" anchor="ctr"/>
          <a:lstStyle/>
          <a:p>
            <a:pPr marL="0" indent="0" algn="ctr">
              <a:buNone/>
            </a:pPr>
            <a:r>
              <a:rPr lang="en-US" sz="2400" b="1" dirty="0">
                <a:solidFill>
                  <a:srgbClr val="153B50"/>
                </a:solidFill>
              </a:rPr>
              <a:t>3,900</a:t>
            </a:r>
            <a:endParaRPr lang="en-US" sz="2400" dirty="0"/>
          </a:p>
        </p:txBody>
      </p:sp>
      <p:sp>
        <p:nvSpPr>
          <p:cNvPr id="7" name="Text 5"/>
          <p:cNvSpPr/>
          <p:nvPr/>
        </p:nvSpPr>
        <p:spPr>
          <a:xfrm>
            <a:off x="822960" y="170992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registros analizados</a:t>
            </a:r>
            <a:endParaRPr lang="en-US" sz="1050" dirty="0"/>
          </a:p>
        </p:txBody>
      </p:sp>
      <p:sp>
        <p:nvSpPr>
          <p:cNvPr id="8" name="Text 6"/>
          <p:cNvSpPr/>
          <p:nvPr/>
        </p:nvSpPr>
        <p:spPr>
          <a:xfrm>
            <a:off x="2834640" y="1325880"/>
            <a:ext cx="1737360" cy="347472"/>
          </a:xfrm>
          <a:prstGeom prst="rect">
            <a:avLst/>
          </a:prstGeom>
          <a:noFill/>
          <a:ln/>
        </p:spPr>
        <p:txBody>
          <a:bodyPr wrap="square" lIns="0" tIns="0" rIns="0" bIns="0" rtlCol="0" anchor="ctr"/>
          <a:lstStyle/>
          <a:p>
            <a:pPr marL="0" indent="0" algn="ctr">
              <a:buNone/>
            </a:pPr>
            <a:r>
              <a:rPr lang="en-US" sz="2400" b="1" dirty="0">
                <a:solidFill>
                  <a:srgbClr val="1C7C7D"/>
                </a:solidFill>
              </a:rPr>
              <a:t>19</a:t>
            </a:r>
            <a:endParaRPr lang="en-US" sz="2400" dirty="0"/>
          </a:p>
        </p:txBody>
      </p:sp>
      <p:sp>
        <p:nvSpPr>
          <p:cNvPr id="9" name="Text 7"/>
          <p:cNvSpPr/>
          <p:nvPr/>
        </p:nvSpPr>
        <p:spPr>
          <a:xfrm>
            <a:off x="2834640" y="170992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columnas</a:t>
            </a:r>
            <a:endParaRPr lang="en-US" sz="1050" dirty="0"/>
          </a:p>
        </p:txBody>
      </p:sp>
      <p:sp>
        <p:nvSpPr>
          <p:cNvPr id="10" name="Text 8"/>
          <p:cNvSpPr/>
          <p:nvPr/>
        </p:nvSpPr>
        <p:spPr>
          <a:xfrm>
            <a:off x="4846320" y="1325880"/>
            <a:ext cx="1737360" cy="347472"/>
          </a:xfrm>
          <a:prstGeom prst="rect">
            <a:avLst/>
          </a:prstGeom>
          <a:noFill/>
          <a:ln/>
        </p:spPr>
        <p:txBody>
          <a:bodyPr wrap="square" lIns="0" tIns="0" rIns="0" bIns="0" rtlCol="0" anchor="ctr"/>
          <a:lstStyle/>
          <a:p>
            <a:pPr marL="0" indent="0" algn="ctr">
              <a:buNone/>
            </a:pPr>
            <a:r>
              <a:rPr lang="en-US" sz="2400" b="1" dirty="0">
                <a:solidFill>
                  <a:srgbClr val="4B9A68"/>
                </a:solidFill>
              </a:rPr>
              <a:t>0</a:t>
            </a:r>
            <a:endParaRPr lang="en-US" sz="2400" dirty="0"/>
          </a:p>
        </p:txBody>
      </p:sp>
      <p:sp>
        <p:nvSpPr>
          <p:cNvPr id="11" name="Text 9"/>
          <p:cNvSpPr/>
          <p:nvPr/>
        </p:nvSpPr>
        <p:spPr>
          <a:xfrm>
            <a:off x="4846320" y="170992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nulos</a:t>
            </a:r>
            <a:endParaRPr lang="en-US" sz="1050" dirty="0"/>
          </a:p>
        </p:txBody>
      </p:sp>
      <p:sp>
        <p:nvSpPr>
          <p:cNvPr id="12" name="Text 10"/>
          <p:cNvSpPr/>
          <p:nvPr/>
        </p:nvSpPr>
        <p:spPr>
          <a:xfrm>
            <a:off x="6858000" y="1325880"/>
            <a:ext cx="1737360" cy="347472"/>
          </a:xfrm>
          <a:prstGeom prst="rect">
            <a:avLst/>
          </a:prstGeom>
          <a:noFill/>
          <a:ln/>
        </p:spPr>
        <p:txBody>
          <a:bodyPr wrap="square" lIns="0" tIns="0" rIns="0" bIns="0" rtlCol="0" anchor="ctr"/>
          <a:lstStyle/>
          <a:p>
            <a:pPr marL="0" indent="0" algn="ctr">
              <a:buNone/>
            </a:pPr>
            <a:r>
              <a:rPr lang="en-US" sz="2400" b="1" dirty="0">
                <a:solidFill>
                  <a:srgbClr val="4B9A68"/>
                </a:solidFill>
              </a:rPr>
              <a:t>0</a:t>
            </a:r>
            <a:endParaRPr lang="en-US" sz="2400" dirty="0"/>
          </a:p>
        </p:txBody>
      </p:sp>
      <p:sp>
        <p:nvSpPr>
          <p:cNvPr id="13" name="Text 11"/>
          <p:cNvSpPr/>
          <p:nvPr/>
        </p:nvSpPr>
        <p:spPr>
          <a:xfrm>
            <a:off x="6858000" y="170992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duplicados</a:t>
            </a:r>
            <a:endParaRPr lang="en-US" sz="1050" dirty="0"/>
          </a:p>
        </p:txBody>
      </p:sp>
      <p:sp>
        <p:nvSpPr>
          <p:cNvPr id="14" name="Text 12"/>
          <p:cNvSpPr/>
          <p:nvPr/>
        </p:nvSpPr>
        <p:spPr>
          <a:xfrm>
            <a:off x="777240" y="2788920"/>
            <a:ext cx="3200400" cy="292608"/>
          </a:xfrm>
          <a:prstGeom prst="rect">
            <a:avLst/>
          </a:prstGeom>
          <a:noFill/>
          <a:ln/>
        </p:spPr>
        <p:txBody>
          <a:bodyPr wrap="square" lIns="0" tIns="0" rIns="0" bIns="0" rtlCol="0" anchor="ctr"/>
          <a:lstStyle/>
          <a:p>
            <a:pPr marL="0" indent="0">
              <a:buNone/>
            </a:pPr>
            <a:r>
              <a:rPr lang="en-US" sz="1800" b="1" dirty="0">
                <a:solidFill>
                  <a:srgbClr val="153B50"/>
                </a:solidFill>
              </a:rPr>
              <a:t>Variables principales</a:t>
            </a:r>
            <a:endParaRPr lang="en-US" sz="1800" dirty="0"/>
          </a:p>
        </p:txBody>
      </p:sp>
      <p:sp>
        <p:nvSpPr>
          <p:cNvPr id="15" name="Text 13"/>
          <p:cNvSpPr/>
          <p:nvPr/>
        </p:nvSpPr>
        <p:spPr>
          <a:xfrm>
            <a:off x="777240" y="3246120"/>
            <a:ext cx="5029200" cy="2011680"/>
          </a:xfrm>
          <a:prstGeom prst="rect">
            <a:avLst/>
          </a:prstGeom>
          <a:noFill/>
          <a:ln/>
        </p:spPr>
        <p:txBody>
          <a:bodyPr wrap="square" lIns="635" tIns="635" rIns="635" bIns="635" rtlCol="0" anchor="t">
            <a:normAutofit/>
          </a:bodyPr>
          <a:lstStyle/>
          <a:p>
            <a:r>
              <a:rPr lang="en-US" sz="1400" dirty="0">
                <a:solidFill>
                  <a:srgbClr val="1A1F2B"/>
                </a:solidFill>
              </a:rPr>
              <a:t>Edad, género, ubicación,</a:t>
            </a:r>
            <a:endParaRPr lang="en-US" sz="1400" dirty="0"/>
          </a:p>
          <a:p>
            <a:r>
              <a:rPr lang="en-US" sz="1400" dirty="0">
                <a:solidFill>
                  <a:srgbClr val="1A1F2B"/>
                </a:solidFill>
              </a:rPr>
              <a:t>Categoría, artículo, temporada, talla,</a:t>
            </a:r>
            <a:endParaRPr lang="en-US" sz="1400" dirty="0"/>
          </a:p>
          <a:p>
            <a:r>
              <a:rPr lang="en-US" sz="1400" dirty="0">
                <a:solidFill>
                  <a:srgbClr val="1A1F2B"/>
                </a:solidFill>
              </a:rPr>
              <a:t>Monto de compra, calificación,</a:t>
            </a:r>
            <a:endParaRPr lang="en-US" sz="1400" dirty="0"/>
          </a:p>
          <a:p>
            <a:r>
              <a:rPr lang="en-US" sz="1400" dirty="0">
                <a:solidFill>
                  <a:srgbClr val="1A1F2B"/>
                </a:solidFill>
              </a:rPr>
              <a:t>Descuentos, promociones, frecuencia y</a:t>
            </a:r>
            <a:endParaRPr lang="en-US" sz="1400" dirty="0"/>
          </a:p>
          <a:p>
            <a:r>
              <a:rPr lang="en-US" sz="1400" dirty="0">
                <a:solidFill>
                  <a:srgbClr val="1A1F2B"/>
                </a:solidFill>
              </a:rPr>
              <a:t>Estado de suscripción: Yes / No.</a:t>
            </a:r>
            <a:endParaRPr lang="en-US" sz="1400" dirty="0"/>
          </a:p>
        </p:txBody>
      </p:sp>
      <p:sp>
        <p:nvSpPr>
          <p:cNvPr id="16" name="Text 14"/>
          <p:cNvSpPr/>
          <p:nvPr/>
        </p:nvSpPr>
        <p:spPr>
          <a:xfrm>
            <a:off x="6583680" y="2788920"/>
            <a:ext cx="3200400" cy="292608"/>
          </a:xfrm>
          <a:prstGeom prst="rect">
            <a:avLst/>
          </a:prstGeom>
          <a:noFill/>
          <a:ln/>
        </p:spPr>
        <p:txBody>
          <a:bodyPr wrap="square" lIns="0" tIns="0" rIns="0" bIns="0" rtlCol="0" anchor="ctr"/>
          <a:lstStyle/>
          <a:p>
            <a:pPr marL="0" indent="0">
              <a:buNone/>
            </a:pPr>
            <a:r>
              <a:rPr lang="en-US" sz="1800" b="1" dirty="0">
                <a:solidFill>
                  <a:srgbClr val="153B50"/>
                </a:solidFill>
              </a:rPr>
              <a:t>Por qué se eligió</a:t>
            </a:r>
            <a:endParaRPr lang="en-US" sz="1800" dirty="0"/>
          </a:p>
        </p:txBody>
      </p:sp>
      <p:sp>
        <p:nvSpPr>
          <p:cNvPr id="17" name="Text 15"/>
          <p:cNvSpPr/>
          <p:nvPr/>
        </p:nvSpPr>
        <p:spPr>
          <a:xfrm>
            <a:off x="6583680" y="3246120"/>
            <a:ext cx="4800600" cy="1600200"/>
          </a:xfrm>
          <a:prstGeom prst="rect">
            <a:avLst/>
          </a:prstGeom>
          <a:noFill/>
          <a:ln/>
        </p:spPr>
        <p:txBody>
          <a:bodyPr wrap="square" lIns="635" tIns="635" rIns="635" bIns="635" rtlCol="0" anchor="t">
            <a:normAutofit/>
          </a:bodyPr>
          <a:lstStyle/>
          <a:p>
            <a:r>
              <a:rPr lang="en-US" sz="1400" dirty="0">
                <a:solidFill>
                  <a:srgbClr val="1A1F2B"/>
                </a:solidFill>
              </a:rPr>
              <a:t>Supera el mínimo de registros recomendados.</a:t>
            </a:r>
            <a:endParaRPr lang="en-US" sz="1400" dirty="0"/>
          </a:p>
          <a:p>
            <a:r>
              <a:rPr lang="en-US" sz="1400" dirty="0">
                <a:solidFill>
                  <a:srgbClr val="1A1F2B"/>
                </a:solidFill>
              </a:rPr>
              <a:t>Tiene variables numéricas para K-Means.</a:t>
            </a:r>
            <a:endParaRPr lang="en-US" sz="1400" dirty="0"/>
          </a:p>
          <a:p>
            <a:r>
              <a:rPr lang="en-US" sz="1400" dirty="0">
                <a:solidFill>
                  <a:srgbClr val="1A1F2B"/>
                </a:solidFill>
              </a:rPr>
              <a:t>Incluye variables categóricas para </a:t>
            </a:r>
            <a:r>
              <a:rPr lang="en-US" sz="1400" dirty="0" err="1">
                <a:solidFill>
                  <a:srgbClr val="1A1F2B"/>
                </a:solidFill>
              </a:rPr>
              <a:t>predicción</a:t>
            </a:r>
            <a:r>
              <a:rPr lang="en-US" sz="1400" dirty="0">
                <a:solidFill>
                  <a:srgbClr val="1A1F2B"/>
                </a:solidFill>
              </a:rPr>
              <a:t>.</a:t>
            </a:r>
            <a:endParaRPr lang="en-US" sz="1400" dirty="0"/>
          </a:p>
        </p:txBody>
      </p:sp>
      <p:sp>
        <p:nvSpPr>
          <p:cNvPr id="19" name="Text 17"/>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Víctor Abraham Campos Sánchez</a:t>
            </a:r>
            <a:endParaRPr lang="en-US" sz="850" dirty="0"/>
          </a:p>
        </p:txBody>
      </p:sp>
      <p:sp>
        <p:nvSpPr>
          <p:cNvPr id="20" name="Text 18"/>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274" y="20907"/>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Limpieza y preparación</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El trabajo fue realizado en Google Colab</a:t>
            </a:r>
            <a:endParaRPr lang="en-US" sz="1250" dirty="0"/>
          </a:p>
        </p:txBody>
      </p:sp>
      <p:sp>
        <p:nvSpPr>
          <p:cNvPr id="6" name="Text 4"/>
          <p:cNvSpPr/>
          <p:nvPr/>
        </p:nvSpPr>
        <p:spPr>
          <a:xfrm>
            <a:off x="777240" y="1234440"/>
            <a:ext cx="2011680" cy="292608"/>
          </a:xfrm>
          <a:prstGeom prst="rect">
            <a:avLst/>
          </a:prstGeom>
          <a:noFill/>
          <a:ln/>
        </p:spPr>
        <p:txBody>
          <a:bodyPr wrap="square" lIns="0" tIns="0" rIns="0" bIns="0" rtlCol="0" anchor="ctr">
            <a:normAutofit/>
          </a:bodyPr>
          <a:lstStyle/>
          <a:p>
            <a:pPr marL="0" indent="0" algn="ctr">
              <a:buNone/>
            </a:pPr>
            <a:r>
              <a:rPr lang="en-US" sz="1800" b="1" dirty="0">
                <a:solidFill>
                  <a:srgbClr val="153B50"/>
                </a:solidFill>
              </a:rPr>
              <a:t>3,900</a:t>
            </a:r>
            <a:endParaRPr lang="en-US" sz="1800" dirty="0"/>
          </a:p>
        </p:txBody>
      </p:sp>
      <p:sp>
        <p:nvSpPr>
          <p:cNvPr id="7" name="Text 5"/>
          <p:cNvSpPr/>
          <p:nvPr/>
        </p:nvSpPr>
        <p:spPr>
          <a:xfrm>
            <a:off x="777240" y="1581912"/>
            <a:ext cx="201168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registros iniciales</a:t>
            </a:r>
            <a:endParaRPr lang="en-US" sz="1050" dirty="0"/>
          </a:p>
        </p:txBody>
      </p:sp>
      <p:sp>
        <p:nvSpPr>
          <p:cNvPr id="8" name="Text 6"/>
          <p:cNvSpPr/>
          <p:nvPr/>
        </p:nvSpPr>
        <p:spPr>
          <a:xfrm>
            <a:off x="3017520" y="1234440"/>
            <a:ext cx="1645920" cy="292608"/>
          </a:xfrm>
          <a:prstGeom prst="rect">
            <a:avLst/>
          </a:prstGeom>
          <a:noFill/>
          <a:ln/>
        </p:spPr>
        <p:txBody>
          <a:bodyPr wrap="square" lIns="0" tIns="0" rIns="0" bIns="0" rtlCol="0" anchor="ctr">
            <a:normAutofit/>
          </a:bodyPr>
          <a:lstStyle/>
          <a:p>
            <a:pPr marL="0" indent="0" algn="ctr">
              <a:buNone/>
            </a:pPr>
            <a:r>
              <a:rPr lang="en-US" sz="1800" b="1" dirty="0">
                <a:solidFill>
                  <a:srgbClr val="1C7C7D"/>
                </a:solidFill>
              </a:rPr>
              <a:t>19</a:t>
            </a:r>
            <a:endParaRPr lang="en-US" sz="1800" dirty="0"/>
          </a:p>
        </p:txBody>
      </p:sp>
      <p:sp>
        <p:nvSpPr>
          <p:cNvPr id="9" name="Text 7"/>
          <p:cNvSpPr/>
          <p:nvPr/>
        </p:nvSpPr>
        <p:spPr>
          <a:xfrm>
            <a:off x="3017520" y="1581912"/>
            <a:ext cx="164592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columnas</a:t>
            </a:r>
            <a:endParaRPr lang="en-US" sz="1050" dirty="0"/>
          </a:p>
        </p:txBody>
      </p:sp>
      <p:sp>
        <p:nvSpPr>
          <p:cNvPr id="10" name="Text 8"/>
          <p:cNvSpPr/>
          <p:nvPr/>
        </p:nvSpPr>
        <p:spPr>
          <a:xfrm>
            <a:off x="4892040" y="1234440"/>
            <a:ext cx="1737360" cy="292608"/>
          </a:xfrm>
          <a:prstGeom prst="rect">
            <a:avLst/>
          </a:prstGeom>
          <a:noFill/>
          <a:ln/>
        </p:spPr>
        <p:txBody>
          <a:bodyPr wrap="square" lIns="0" tIns="0" rIns="0" bIns="0" rtlCol="0" anchor="ctr">
            <a:normAutofit/>
          </a:bodyPr>
          <a:lstStyle/>
          <a:p>
            <a:pPr marL="0" indent="0" algn="ctr">
              <a:buNone/>
            </a:pPr>
            <a:r>
              <a:rPr lang="en-US" sz="1800" b="1" dirty="0">
                <a:solidFill>
                  <a:srgbClr val="4B9A68"/>
                </a:solidFill>
              </a:rPr>
              <a:t>0</a:t>
            </a:r>
            <a:endParaRPr lang="en-US" sz="1800" dirty="0"/>
          </a:p>
        </p:txBody>
      </p:sp>
      <p:sp>
        <p:nvSpPr>
          <p:cNvPr id="11" name="Text 9"/>
          <p:cNvSpPr/>
          <p:nvPr/>
        </p:nvSpPr>
        <p:spPr>
          <a:xfrm>
            <a:off x="4892040" y="1581912"/>
            <a:ext cx="173736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valores faltantes</a:t>
            </a:r>
            <a:endParaRPr lang="en-US" sz="1050" dirty="0"/>
          </a:p>
        </p:txBody>
      </p:sp>
      <p:sp>
        <p:nvSpPr>
          <p:cNvPr id="12" name="Text 10"/>
          <p:cNvSpPr/>
          <p:nvPr/>
        </p:nvSpPr>
        <p:spPr>
          <a:xfrm>
            <a:off x="6858000" y="1234440"/>
            <a:ext cx="1645920" cy="292608"/>
          </a:xfrm>
          <a:prstGeom prst="rect">
            <a:avLst/>
          </a:prstGeom>
          <a:noFill/>
          <a:ln/>
        </p:spPr>
        <p:txBody>
          <a:bodyPr wrap="square" lIns="0" tIns="0" rIns="0" bIns="0" rtlCol="0" anchor="ctr">
            <a:normAutofit/>
          </a:bodyPr>
          <a:lstStyle/>
          <a:p>
            <a:pPr marL="0" indent="0" algn="ctr">
              <a:buNone/>
            </a:pPr>
            <a:r>
              <a:rPr lang="en-US" sz="1800" b="1" dirty="0">
                <a:solidFill>
                  <a:srgbClr val="4B9A68"/>
                </a:solidFill>
              </a:rPr>
              <a:t>0</a:t>
            </a:r>
            <a:endParaRPr lang="en-US" sz="1800" dirty="0"/>
          </a:p>
        </p:txBody>
      </p:sp>
      <p:sp>
        <p:nvSpPr>
          <p:cNvPr id="13" name="Text 11"/>
          <p:cNvSpPr/>
          <p:nvPr/>
        </p:nvSpPr>
        <p:spPr>
          <a:xfrm>
            <a:off x="6858000" y="1581912"/>
            <a:ext cx="164592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duplicados</a:t>
            </a:r>
            <a:endParaRPr lang="en-US" sz="1050" dirty="0"/>
          </a:p>
        </p:txBody>
      </p:sp>
      <p:sp>
        <p:nvSpPr>
          <p:cNvPr id="14" name="Text 12"/>
          <p:cNvSpPr/>
          <p:nvPr/>
        </p:nvSpPr>
        <p:spPr>
          <a:xfrm>
            <a:off x="8732520" y="1234440"/>
            <a:ext cx="2194560" cy="292608"/>
          </a:xfrm>
          <a:prstGeom prst="rect">
            <a:avLst/>
          </a:prstGeom>
          <a:noFill/>
          <a:ln/>
        </p:spPr>
        <p:txBody>
          <a:bodyPr wrap="square" lIns="0" tIns="0" rIns="0" bIns="0" rtlCol="0" anchor="ctr">
            <a:normAutofit/>
          </a:bodyPr>
          <a:lstStyle/>
          <a:p>
            <a:pPr marL="0" indent="0" algn="ctr">
              <a:buNone/>
            </a:pPr>
            <a:r>
              <a:rPr lang="en-US" sz="1800" b="1" dirty="0">
                <a:solidFill>
                  <a:srgbClr val="F08A4B"/>
                </a:solidFill>
              </a:rPr>
              <a:t>3,900</a:t>
            </a:r>
            <a:endParaRPr lang="en-US" sz="1800" dirty="0"/>
          </a:p>
        </p:txBody>
      </p:sp>
      <p:sp>
        <p:nvSpPr>
          <p:cNvPr id="15" name="Text 13"/>
          <p:cNvSpPr/>
          <p:nvPr/>
        </p:nvSpPr>
        <p:spPr>
          <a:xfrm>
            <a:off x="8732520" y="1581912"/>
            <a:ext cx="219456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después de limpieza</a:t>
            </a:r>
            <a:endParaRPr lang="en-US" sz="1050" dirty="0"/>
          </a:p>
        </p:txBody>
      </p:sp>
      <p:sp>
        <p:nvSpPr>
          <p:cNvPr id="16" name="Text 14"/>
          <p:cNvSpPr/>
          <p:nvPr/>
        </p:nvSpPr>
        <p:spPr>
          <a:xfrm>
            <a:off x="777240" y="2788920"/>
            <a:ext cx="3108960" cy="320040"/>
          </a:xfrm>
          <a:prstGeom prst="rect">
            <a:avLst/>
          </a:prstGeom>
          <a:noFill/>
          <a:ln/>
        </p:spPr>
        <p:txBody>
          <a:bodyPr wrap="square" lIns="0" tIns="0" rIns="0" bIns="0" rtlCol="0" anchor="ctr"/>
          <a:lstStyle/>
          <a:p>
            <a:pPr marL="0" indent="0">
              <a:buNone/>
            </a:pPr>
            <a:r>
              <a:rPr lang="en-US" sz="1800" b="1" dirty="0">
                <a:solidFill>
                  <a:srgbClr val="153B50"/>
                </a:solidFill>
              </a:rPr>
              <a:t>Acciones realizadas</a:t>
            </a:r>
            <a:endParaRPr lang="en-US" sz="1800" dirty="0"/>
          </a:p>
        </p:txBody>
      </p:sp>
      <p:sp>
        <p:nvSpPr>
          <p:cNvPr id="17" name="Text 15"/>
          <p:cNvSpPr/>
          <p:nvPr/>
        </p:nvSpPr>
        <p:spPr>
          <a:xfrm>
            <a:off x="777240" y="3246120"/>
            <a:ext cx="5212080" cy="1783080"/>
          </a:xfrm>
          <a:prstGeom prst="rect">
            <a:avLst/>
          </a:prstGeom>
          <a:noFill/>
          <a:ln/>
        </p:spPr>
        <p:txBody>
          <a:bodyPr wrap="square" lIns="635" tIns="635" rIns="635" bIns="635" rtlCol="0" anchor="t">
            <a:normAutofit/>
          </a:bodyPr>
          <a:lstStyle/>
          <a:p>
            <a:r>
              <a:rPr lang="en-US" sz="1400" dirty="0">
                <a:solidFill>
                  <a:srgbClr val="1A1F2B"/>
                </a:solidFill>
              </a:rPr>
              <a:t>Revisión de nulos, duplicados y tipos de </a:t>
            </a:r>
            <a:r>
              <a:rPr lang="en-US" sz="1400" dirty="0" err="1">
                <a:solidFill>
                  <a:srgbClr val="1A1F2B"/>
                </a:solidFill>
              </a:rPr>
              <a:t>datos</a:t>
            </a:r>
            <a:r>
              <a:rPr lang="en-US" sz="1400" dirty="0">
                <a:solidFill>
                  <a:srgbClr val="1A1F2B"/>
                </a:solidFill>
              </a:rPr>
              <a:t>.</a:t>
            </a:r>
            <a:endParaRPr lang="en-US" sz="1400" dirty="0"/>
          </a:p>
          <a:p>
            <a:r>
              <a:rPr lang="en-US" sz="1400" dirty="0">
                <a:solidFill>
                  <a:srgbClr val="1A1F2B"/>
                </a:solidFill>
              </a:rPr>
              <a:t>Eliminación de espacios innecesarios en variables de texto.</a:t>
            </a:r>
            <a:endParaRPr lang="en-US" sz="1400" dirty="0"/>
          </a:p>
          <a:p>
            <a:r>
              <a:rPr lang="en-US" sz="1400" dirty="0">
                <a:solidFill>
                  <a:srgbClr val="1A1F2B"/>
                </a:solidFill>
              </a:rPr>
              <a:t>Revisión de valores atípicos </a:t>
            </a:r>
            <a:r>
              <a:rPr lang="en-US" sz="1400" dirty="0" err="1">
                <a:solidFill>
                  <a:srgbClr val="1A1F2B"/>
                </a:solidFill>
              </a:rPr>
              <a:t>mediante</a:t>
            </a:r>
            <a:r>
              <a:rPr lang="en-US" sz="1400" dirty="0">
                <a:solidFill>
                  <a:srgbClr val="1A1F2B"/>
                </a:solidFill>
              </a:rPr>
              <a:t> IQR (</a:t>
            </a:r>
            <a:r>
              <a:rPr lang="en-US" sz="1400" dirty="0" err="1">
                <a:solidFill>
                  <a:srgbClr val="1A1F2B"/>
                </a:solidFill>
              </a:rPr>
              <a:t>criterio</a:t>
            </a:r>
            <a:r>
              <a:rPr lang="en-US" sz="1400" dirty="0">
                <a:solidFill>
                  <a:srgbClr val="1A1F2B"/>
                </a:solidFill>
              </a:rPr>
              <a:t> del </a:t>
            </a:r>
            <a:r>
              <a:rPr lang="en-US" sz="1400" dirty="0" err="1">
                <a:solidFill>
                  <a:srgbClr val="1A1F2B"/>
                </a:solidFill>
              </a:rPr>
              <a:t>rango</a:t>
            </a:r>
            <a:r>
              <a:rPr lang="en-US" sz="1400" dirty="0">
                <a:solidFill>
                  <a:srgbClr val="1A1F2B"/>
                </a:solidFill>
              </a:rPr>
              <a:t> </a:t>
            </a:r>
            <a:r>
              <a:rPr lang="en-US" sz="1400" dirty="0" err="1">
                <a:solidFill>
                  <a:srgbClr val="1A1F2B"/>
                </a:solidFill>
              </a:rPr>
              <a:t>intercuartilico</a:t>
            </a:r>
            <a:r>
              <a:rPr lang="en-US" sz="1400" dirty="0">
                <a:solidFill>
                  <a:srgbClr val="1A1F2B"/>
                </a:solidFill>
              </a:rPr>
              <a:t>).</a:t>
            </a:r>
            <a:endParaRPr lang="en-US" sz="1400" dirty="0"/>
          </a:p>
          <a:p>
            <a:r>
              <a:rPr lang="en-US" sz="1400" dirty="0">
                <a:solidFill>
                  <a:srgbClr val="1A1F2B"/>
                </a:solidFill>
              </a:rPr>
              <a:t>Estandarización para K-Means y codificación para regresión logística.</a:t>
            </a:r>
            <a:endParaRPr lang="en-US" sz="1400" dirty="0"/>
          </a:p>
        </p:txBody>
      </p:sp>
      <p:sp>
        <p:nvSpPr>
          <p:cNvPr id="18" name="Text 16"/>
          <p:cNvSpPr/>
          <p:nvPr/>
        </p:nvSpPr>
        <p:spPr>
          <a:xfrm>
            <a:off x="6629400" y="2788920"/>
            <a:ext cx="3108960" cy="320040"/>
          </a:xfrm>
          <a:prstGeom prst="rect">
            <a:avLst/>
          </a:prstGeom>
          <a:noFill/>
          <a:ln/>
        </p:spPr>
        <p:txBody>
          <a:bodyPr wrap="square" lIns="0" tIns="0" rIns="0" bIns="0" rtlCol="0" anchor="ctr"/>
          <a:lstStyle/>
          <a:p>
            <a:pPr marL="0" indent="0">
              <a:buNone/>
            </a:pPr>
            <a:r>
              <a:rPr lang="en-US" sz="1800" b="1" dirty="0">
                <a:solidFill>
                  <a:srgbClr val="153B50"/>
                </a:solidFill>
              </a:rPr>
              <a:t>Interpretación</a:t>
            </a:r>
            <a:endParaRPr lang="en-US" sz="1800" dirty="0"/>
          </a:p>
        </p:txBody>
      </p:sp>
      <p:sp>
        <p:nvSpPr>
          <p:cNvPr id="19" name="Text 17"/>
          <p:cNvSpPr/>
          <p:nvPr/>
        </p:nvSpPr>
        <p:spPr>
          <a:xfrm>
            <a:off x="6629400" y="3246120"/>
            <a:ext cx="4434840" cy="1097280"/>
          </a:xfrm>
          <a:prstGeom prst="rect">
            <a:avLst/>
          </a:prstGeom>
          <a:noFill/>
          <a:ln/>
        </p:spPr>
        <p:txBody>
          <a:bodyPr wrap="square" lIns="0" tIns="0" rIns="0" bIns="0" rtlCol="0" anchor="ctr">
            <a:normAutofit/>
          </a:bodyPr>
          <a:lstStyle/>
          <a:p>
            <a:pPr marL="0" indent="0">
              <a:buNone/>
            </a:pPr>
            <a:r>
              <a:rPr lang="en-US" sz="1550" dirty="0">
                <a:solidFill>
                  <a:srgbClr val="1A1F2B"/>
                </a:solidFill>
              </a:rPr>
              <a:t>No fue necesario eliminar registros, pero se documentó la calidad del dataset y se prepararon variables para que los modelos funcionaran correctamente.</a:t>
            </a:r>
            <a:endParaRPr lang="en-US" sz="1550" dirty="0"/>
          </a:p>
        </p:txBody>
      </p:sp>
      <p:sp>
        <p:nvSpPr>
          <p:cNvPr id="20" name="Text 18"/>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José Juan Carlos Ocampo Cruz</a:t>
            </a:r>
            <a:endParaRPr lang="en-US" sz="850" dirty="0"/>
          </a:p>
        </p:txBody>
      </p:sp>
      <p:sp>
        <p:nvSpPr>
          <p:cNvPr id="21" name="Text 19"/>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s-MX" dirty="0"/>
          </a:p>
        </p:txBody>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Estadística descriptiva</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Perfil central de los clientes</a:t>
            </a:r>
            <a:endParaRPr lang="en-US" sz="1250" dirty="0"/>
          </a:p>
        </p:txBody>
      </p:sp>
      <p:sp>
        <p:nvSpPr>
          <p:cNvPr id="6" name="Text 4"/>
          <p:cNvSpPr/>
          <p:nvPr/>
        </p:nvSpPr>
        <p:spPr>
          <a:xfrm>
            <a:off x="777240" y="1234440"/>
            <a:ext cx="1828800" cy="292608"/>
          </a:xfrm>
          <a:prstGeom prst="rect">
            <a:avLst/>
          </a:prstGeom>
          <a:noFill/>
          <a:ln/>
        </p:spPr>
        <p:txBody>
          <a:bodyPr wrap="square" lIns="0" tIns="0" rIns="0" bIns="0" rtlCol="0" anchor="ctr">
            <a:normAutofit/>
          </a:bodyPr>
          <a:lstStyle/>
          <a:p>
            <a:pPr marL="0" indent="0" algn="ctr">
              <a:buNone/>
            </a:pPr>
            <a:r>
              <a:rPr lang="en-US" sz="1800" b="1" dirty="0">
                <a:solidFill>
                  <a:srgbClr val="153B50"/>
                </a:solidFill>
              </a:rPr>
              <a:t>44.07</a:t>
            </a:r>
            <a:endParaRPr lang="en-US" sz="1800" dirty="0"/>
          </a:p>
        </p:txBody>
      </p:sp>
      <p:sp>
        <p:nvSpPr>
          <p:cNvPr id="7" name="Text 5"/>
          <p:cNvSpPr/>
          <p:nvPr/>
        </p:nvSpPr>
        <p:spPr>
          <a:xfrm>
            <a:off x="777240" y="1581912"/>
            <a:ext cx="182880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edad promedio</a:t>
            </a:r>
            <a:endParaRPr lang="en-US" sz="1050" dirty="0"/>
          </a:p>
        </p:txBody>
      </p:sp>
      <p:sp>
        <p:nvSpPr>
          <p:cNvPr id="8" name="Text 6"/>
          <p:cNvSpPr/>
          <p:nvPr/>
        </p:nvSpPr>
        <p:spPr>
          <a:xfrm>
            <a:off x="2880360" y="1234440"/>
            <a:ext cx="2103120" cy="292608"/>
          </a:xfrm>
          <a:prstGeom prst="rect">
            <a:avLst/>
          </a:prstGeom>
          <a:noFill/>
          <a:ln/>
        </p:spPr>
        <p:txBody>
          <a:bodyPr wrap="square" lIns="0" tIns="0" rIns="0" bIns="0" rtlCol="0" anchor="ctr">
            <a:normAutofit/>
          </a:bodyPr>
          <a:lstStyle/>
          <a:p>
            <a:pPr marL="0" indent="0" algn="ctr">
              <a:buNone/>
            </a:pPr>
            <a:r>
              <a:rPr lang="en-US" sz="1800" b="1" dirty="0">
                <a:solidFill>
                  <a:srgbClr val="1C7C7D"/>
                </a:solidFill>
              </a:rPr>
              <a:t>59.76 USD</a:t>
            </a:r>
            <a:endParaRPr lang="en-US" sz="1800" dirty="0"/>
          </a:p>
        </p:txBody>
      </p:sp>
      <p:sp>
        <p:nvSpPr>
          <p:cNvPr id="9" name="Text 7"/>
          <p:cNvSpPr/>
          <p:nvPr/>
        </p:nvSpPr>
        <p:spPr>
          <a:xfrm>
            <a:off x="2880360" y="1581912"/>
            <a:ext cx="210312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compra promedio</a:t>
            </a:r>
            <a:endParaRPr lang="en-US" sz="1050" dirty="0"/>
          </a:p>
        </p:txBody>
      </p:sp>
      <p:sp>
        <p:nvSpPr>
          <p:cNvPr id="10" name="Text 8"/>
          <p:cNvSpPr/>
          <p:nvPr/>
        </p:nvSpPr>
        <p:spPr>
          <a:xfrm>
            <a:off x="5349240" y="1234440"/>
            <a:ext cx="1920240" cy="292608"/>
          </a:xfrm>
          <a:prstGeom prst="rect">
            <a:avLst/>
          </a:prstGeom>
          <a:noFill/>
          <a:ln/>
        </p:spPr>
        <p:txBody>
          <a:bodyPr wrap="square" lIns="0" tIns="0" rIns="0" bIns="0" rtlCol="0" anchor="ctr">
            <a:normAutofit/>
          </a:bodyPr>
          <a:lstStyle/>
          <a:p>
            <a:pPr marL="0" indent="0" algn="ctr">
              <a:buNone/>
            </a:pPr>
            <a:r>
              <a:rPr lang="en-US" sz="1800" b="1" dirty="0">
                <a:solidFill>
                  <a:srgbClr val="EAA43A"/>
                </a:solidFill>
              </a:rPr>
              <a:t>3.75/5</a:t>
            </a:r>
            <a:endParaRPr lang="en-US" sz="1800" dirty="0"/>
          </a:p>
        </p:txBody>
      </p:sp>
      <p:sp>
        <p:nvSpPr>
          <p:cNvPr id="11" name="Text 9"/>
          <p:cNvSpPr/>
          <p:nvPr/>
        </p:nvSpPr>
        <p:spPr>
          <a:xfrm>
            <a:off x="5349240" y="1581912"/>
            <a:ext cx="192024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calificación media</a:t>
            </a:r>
            <a:endParaRPr lang="en-US" sz="1050" dirty="0"/>
          </a:p>
        </p:txBody>
      </p:sp>
      <p:sp>
        <p:nvSpPr>
          <p:cNvPr id="12" name="Text 10"/>
          <p:cNvSpPr/>
          <p:nvPr/>
        </p:nvSpPr>
        <p:spPr>
          <a:xfrm>
            <a:off x="7543800" y="1234440"/>
            <a:ext cx="1920240" cy="292608"/>
          </a:xfrm>
          <a:prstGeom prst="rect">
            <a:avLst/>
          </a:prstGeom>
          <a:noFill/>
          <a:ln/>
        </p:spPr>
        <p:txBody>
          <a:bodyPr wrap="square" lIns="0" tIns="0" rIns="0" bIns="0" rtlCol="0" anchor="ctr">
            <a:normAutofit/>
          </a:bodyPr>
          <a:lstStyle/>
          <a:p>
            <a:pPr marL="0" indent="0" algn="ctr">
              <a:buNone/>
            </a:pPr>
            <a:r>
              <a:rPr lang="en-US" sz="1800" b="1" dirty="0">
                <a:solidFill>
                  <a:srgbClr val="F08A4B"/>
                </a:solidFill>
              </a:rPr>
              <a:t>25.35</a:t>
            </a:r>
            <a:endParaRPr lang="en-US" sz="1800" dirty="0"/>
          </a:p>
        </p:txBody>
      </p:sp>
      <p:sp>
        <p:nvSpPr>
          <p:cNvPr id="13" name="Text 11"/>
          <p:cNvSpPr/>
          <p:nvPr/>
        </p:nvSpPr>
        <p:spPr>
          <a:xfrm>
            <a:off x="7543800" y="1581912"/>
            <a:ext cx="192024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compras previas</a:t>
            </a:r>
            <a:endParaRPr lang="en-US" sz="1050" dirty="0"/>
          </a:p>
        </p:txBody>
      </p:sp>
      <p:sp>
        <p:nvSpPr>
          <p:cNvPr id="14" name="Text 12"/>
          <p:cNvSpPr/>
          <p:nvPr/>
        </p:nvSpPr>
        <p:spPr>
          <a:xfrm>
            <a:off x="9784080" y="1234440"/>
            <a:ext cx="1645920" cy="292608"/>
          </a:xfrm>
          <a:prstGeom prst="rect">
            <a:avLst/>
          </a:prstGeom>
          <a:noFill/>
          <a:ln/>
        </p:spPr>
        <p:txBody>
          <a:bodyPr wrap="square" lIns="0" tIns="0" rIns="0" bIns="0" rtlCol="0" anchor="ctr">
            <a:normAutofit/>
          </a:bodyPr>
          <a:lstStyle/>
          <a:p>
            <a:pPr marL="0" indent="0" algn="ctr">
              <a:buNone/>
            </a:pPr>
            <a:r>
              <a:rPr lang="en-US" sz="1800" b="1" dirty="0">
                <a:solidFill>
                  <a:srgbClr val="2A75BB"/>
                </a:solidFill>
              </a:rPr>
              <a:t>60 USD</a:t>
            </a:r>
            <a:endParaRPr lang="en-US" sz="1800" dirty="0"/>
          </a:p>
        </p:txBody>
      </p:sp>
      <p:sp>
        <p:nvSpPr>
          <p:cNvPr id="15" name="Text 13"/>
          <p:cNvSpPr/>
          <p:nvPr/>
        </p:nvSpPr>
        <p:spPr>
          <a:xfrm>
            <a:off x="9784080" y="1581912"/>
            <a:ext cx="164592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monto mediano</a:t>
            </a:r>
            <a:endParaRPr lang="en-US" sz="1050" dirty="0"/>
          </a:p>
        </p:txBody>
      </p:sp>
      <p:sp>
        <p:nvSpPr>
          <p:cNvPr id="16" name="Text 14"/>
          <p:cNvSpPr/>
          <p:nvPr/>
        </p:nvSpPr>
        <p:spPr>
          <a:xfrm>
            <a:off x="777240" y="2848356"/>
            <a:ext cx="3108960" cy="320040"/>
          </a:xfrm>
          <a:prstGeom prst="rect">
            <a:avLst/>
          </a:prstGeom>
          <a:noFill/>
          <a:ln/>
        </p:spPr>
        <p:txBody>
          <a:bodyPr wrap="square" lIns="0" tIns="0" rIns="0" bIns="0" rtlCol="0" anchor="ctr"/>
          <a:lstStyle/>
          <a:p>
            <a:pPr marL="0" indent="0">
              <a:buNone/>
            </a:pPr>
            <a:r>
              <a:rPr lang="en-US" sz="1800" b="1" dirty="0">
                <a:solidFill>
                  <a:srgbClr val="153B50"/>
                </a:solidFill>
              </a:rPr>
              <a:t>Rangos observados</a:t>
            </a:r>
            <a:endParaRPr lang="en-US" sz="1800" dirty="0"/>
          </a:p>
        </p:txBody>
      </p:sp>
      <p:sp>
        <p:nvSpPr>
          <p:cNvPr id="17" name="Text 15"/>
          <p:cNvSpPr/>
          <p:nvPr/>
        </p:nvSpPr>
        <p:spPr>
          <a:xfrm>
            <a:off x="777240" y="3287268"/>
            <a:ext cx="4846320" cy="1463040"/>
          </a:xfrm>
          <a:prstGeom prst="rect">
            <a:avLst/>
          </a:prstGeom>
          <a:noFill/>
          <a:ln/>
        </p:spPr>
        <p:txBody>
          <a:bodyPr wrap="square" lIns="635" tIns="635" rIns="635" bIns="635" rtlCol="0" anchor="t">
            <a:normAutofit/>
          </a:bodyPr>
          <a:lstStyle/>
          <a:p>
            <a:r>
              <a:rPr lang="en-US" sz="1400" dirty="0">
                <a:solidFill>
                  <a:srgbClr val="1A1F2B"/>
                </a:solidFill>
              </a:rPr>
              <a:t>Edad: 18 a 70 años.</a:t>
            </a:r>
            <a:endParaRPr lang="en-US" sz="1400" dirty="0"/>
          </a:p>
          <a:p>
            <a:r>
              <a:rPr lang="en-US" sz="1400" dirty="0">
                <a:solidFill>
                  <a:srgbClr val="1A1F2B"/>
                </a:solidFill>
              </a:rPr>
              <a:t>Monto de compra: 20 a 100 USD.</a:t>
            </a:r>
            <a:endParaRPr lang="en-US" sz="1400" dirty="0"/>
          </a:p>
          <a:p>
            <a:r>
              <a:rPr lang="en-US" sz="1400" dirty="0">
                <a:solidFill>
                  <a:srgbClr val="1A1F2B"/>
                </a:solidFill>
              </a:rPr>
              <a:t>Calificación: 2.5 a 5.0.</a:t>
            </a:r>
            <a:endParaRPr lang="en-US" sz="1400" dirty="0"/>
          </a:p>
          <a:p>
            <a:r>
              <a:rPr lang="en-US" sz="1400" dirty="0">
                <a:solidFill>
                  <a:srgbClr val="1A1F2B"/>
                </a:solidFill>
              </a:rPr>
              <a:t>Compras anteriores: 1 a 50.</a:t>
            </a:r>
            <a:endParaRPr lang="en-US" sz="1400" dirty="0"/>
          </a:p>
        </p:txBody>
      </p:sp>
      <p:sp>
        <p:nvSpPr>
          <p:cNvPr id="18" name="Text 16"/>
          <p:cNvSpPr/>
          <p:nvPr/>
        </p:nvSpPr>
        <p:spPr>
          <a:xfrm>
            <a:off x="6400800" y="2788920"/>
            <a:ext cx="3474720" cy="320040"/>
          </a:xfrm>
          <a:prstGeom prst="rect">
            <a:avLst/>
          </a:prstGeom>
          <a:noFill/>
          <a:ln/>
        </p:spPr>
        <p:txBody>
          <a:bodyPr wrap="square" lIns="0" tIns="0" rIns="0" bIns="0" rtlCol="0" anchor="ctr"/>
          <a:lstStyle/>
          <a:p>
            <a:r>
              <a:rPr lang="en-US" sz="1800" b="1" dirty="0">
                <a:solidFill>
                  <a:srgbClr val="153B50"/>
                </a:solidFill>
              </a:rPr>
              <a:t>Interpretation</a:t>
            </a:r>
            <a:endParaRPr lang="en-US" sz="1800" dirty="0"/>
          </a:p>
        </p:txBody>
      </p:sp>
      <p:sp>
        <p:nvSpPr>
          <p:cNvPr id="19" name="Text 17"/>
          <p:cNvSpPr/>
          <p:nvPr/>
        </p:nvSpPr>
        <p:spPr>
          <a:xfrm>
            <a:off x="6400800" y="3246120"/>
            <a:ext cx="4800600" cy="1188720"/>
          </a:xfrm>
          <a:prstGeom prst="rect">
            <a:avLst/>
          </a:prstGeom>
          <a:noFill/>
          <a:ln/>
        </p:spPr>
        <p:txBody>
          <a:bodyPr wrap="square" lIns="0" tIns="0" rIns="0" bIns="0" rtlCol="0" anchor="ctr">
            <a:normAutofit/>
          </a:bodyPr>
          <a:lstStyle/>
          <a:p>
            <a:pPr marL="0" indent="0">
              <a:buNone/>
            </a:pPr>
            <a:r>
              <a:rPr lang="en-US" sz="1550" dirty="0">
                <a:solidFill>
                  <a:srgbClr val="1A1F2B"/>
                </a:solidFill>
              </a:rPr>
              <a:t>Estos valores sirven como punto de comparación para interpretar los clusters. Por ejemplo, un cluster con compra promedio de 82 USD está claramente por encima del promedio general de 59.76 USD.</a:t>
            </a:r>
            <a:endParaRPr lang="en-US" sz="1550" dirty="0"/>
          </a:p>
        </p:txBody>
      </p:sp>
      <p:sp>
        <p:nvSpPr>
          <p:cNvPr id="20" name="Text 18"/>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José Juan Carlos Ocampo Cruz</a:t>
            </a:r>
            <a:endParaRPr lang="en-US" sz="850" dirty="0"/>
          </a:p>
        </p:txBody>
      </p:sp>
      <p:sp>
        <p:nvSpPr>
          <p:cNvPr id="21" name="Text 19"/>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0548"/>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Análisis exploratorio</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Categorías, suscripción y frecuencia de compra</a:t>
            </a:r>
            <a:endParaRPr lang="en-US" sz="1250" dirty="0"/>
          </a:p>
        </p:txBody>
      </p:sp>
      <p:pic>
        <p:nvPicPr>
          <p:cNvPr id="6" name="Image 0" descr="/mnt/data/deck_assets/category.png"/>
          <p:cNvPicPr>
            <a:picLocks noChangeAspect="1"/>
          </p:cNvPicPr>
          <p:nvPr/>
        </p:nvPicPr>
        <p:blipFill>
          <a:blip r:embed="rId3"/>
          <a:stretch>
            <a:fillRect/>
          </a:stretch>
        </p:blipFill>
        <p:spPr>
          <a:xfrm>
            <a:off x="594360" y="1143000"/>
            <a:ext cx="3611880" cy="2240280"/>
          </a:xfrm>
          <a:prstGeom prst="rect">
            <a:avLst/>
          </a:prstGeom>
        </p:spPr>
      </p:pic>
      <p:pic>
        <p:nvPicPr>
          <p:cNvPr id="7" name="Image 1" descr="/mnt/data/deck_assets/subscription.png"/>
          <p:cNvPicPr>
            <a:picLocks noChangeAspect="1"/>
          </p:cNvPicPr>
          <p:nvPr/>
        </p:nvPicPr>
        <p:blipFill>
          <a:blip r:embed="rId4"/>
          <a:stretch>
            <a:fillRect/>
          </a:stretch>
        </p:blipFill>
        <p:spPr>
          <a:xfrm>
            <a:off x="4315968" y="1143000"/>
            <a:ext cx="3383280" cy="2240280"/>
          </a:xfrm>
          <a:prstGeom prst="rect">
            <a:avLst/>
          </a:prstGeom>
        </p:spPr>
      </p:pic>
      <p:pic>
        <p:nvPicPr>
          <p:cNvPr id="8" name="Image 2" descr="/mnt/data/deck_assets/frequency.png"/>
          <p:cNvPicPr>
            <a:picLocks noChangeAspect="1"/>
          </p:cNvPicPr>
          <p:nvPr/>
        </p:nvPicPr>
        <p:blipFill>
          <a:blip r:embed="rId5"/>
          <a:stretch>
            <a:fillRect/>
          </a:stretch>
        </p:blipFill>
        <p:spPr>
          <a:xfrm>
            <a:off x="7845552" y="1143000"/>
            <a:ext cx="3657600" cy="2240280"/>
          </a:xfrm>
          <a:prstGeom prst="rect">
            <a:avLst/>
          </a:prstGeom>
        </p:spPr>
      </p:pic>
      <p:sp>
        <p:nvSpPr>
          <p:cNvPr id="9" name="Text 4"/>
          <p:cNvSpPr/>
          <p:nvPr/>
        </p:nvSpPr>
        <p:spPr>
          <a:xfrm>
            <a:off x="914400" y="3931920"/>
            <a:ext cx="10332720" cy="1645920"/>
          </a:xfrm>
          <a:prstGeom prst="rect">
            <a:avLst/>
          </a:prstGeom>
          <a:noFill/>
          <a:ln/>
        </p:spPr>
        <p:txBody>
          <a:bodyPr wrap="square" lIns="635" tIns="635" rIns="635" bIns="635" rtlCol="0" anchor="t">
            <a:normAutofit/>
          </a:bodyPr>
          <a:lstStyle/>
          <a:p>
            <a:r>
              <a:rPr lang="en-US" sz="1500" dirty="0">
                <a:solidFill>
                  <a:srgbClr val="1A1F2B"/>
                </a:solidFill>
              </a:rPr>
              <a:t>Clothing concentra 1,737 registros: es la categoría dominante.</a:t>
            </a:r>
            <a:endParaRPr lang="en-US" sz="1500" dirty="0"/>
          </a:p>
          <a:p>
            <a:r>
              <a:rPr lang="en-US" sz="1500" dirty="0">
                <a:solidFill>
                  <a:srgbClr val="1A1F2B"/>
                </a:solidFill>
              </a:rPr>
              <a:t>El 72.99% de clientes no tiene suscripción; el 27.01% sí.</a:t>
            </a:r>
            <a:endParaRPr lang="en-US" sz="1500" dirty="0"/>
          </a:p>
          <a:p>
            <a:r>
              <a:rPr lang="en-US" sz="1500" dirty="0">
                <a:solidFill>
                  <a:srgbClr val="1A1F2B"/>
                </a:solidFill>
              </a:rPr>
              <a:t>La frecuencia de compra está relativamente equilibrada entre categorías.</a:t>
            </a:r>
            <a:endParaRPr lang="en-US" sz="1500" dirty="0"/>
          </a:p>
          <a:p>
            <a:r>
              <a:rPr lang="en-US" sz="1500" dirty="0">
                <a:solidFill>
                  <a:srgbClr val="1A1F2B"/>
                </a:solidFill>
              </a:rPr>
              <a:t>Footwear tiene el mayor monto promedio de compra: 60.26 USD.</a:t>
            </a:r>
            <a:endParaRPr lang="en-US" sz="1500" dirty="0"/>
          </a:p>
        </p:txBody>
      </p:sp>
      <p:sp>
        <p:nvSpPr>
          <p:cNvPr id="10" name="Text 5"/>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José Juan Carlos Ocampo Cruz</a:t>
            </a:r>
            <a:endParaRPr lang="en-US" sz="850" dirty="0"/>
          </a:p>
        </p:txBody>
      </p:sp>
      <p:sp>
        <p:nvSpPr>
          <p:cNvPr id="11" name="Text 6"/>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K-Means: variables y elección de K</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Segmentación no supervisada</a:t>
            </a:r>
            <a:endParaRPr lang="en-US" sz="1250" dirty="0"/>
          </a:p>
        </p:txBody>
      </p:sp>
      <p:sp>
        <p:nvSpPr>
          <p:cNvPr id="6" name="Text 4"/>
          <p:cNvSpPr/>
          <p:nvPr/>
        </p:nvSpPr>
        <p:spPr>
          <a:xfrm>
            <a:off x="731520" y="1234440"/>
            <a:ext cx="3200400" cy="292608"/>
          </a:xfrm>
          <a:prstGeom prst="rect">
            <a:avLst/>
          </a:prstGeom>
          <a:noFill/>
          <a:ln/>
        </p:spPr>
        <p:txBody>
          <a:bodyPr wrap="square" lIns="0" tIns="0" rIns="0" bIns="0" rtlCol="0" anchor="ctr"/>
          <a:lstStyle/>
          <a:p>
            <a:pPr marL="0" indent="0">
              <a:buNone/>
            </a:pPr>
            <a:r>
              <a:rPr lang="en-US" sz="1800" b="1" dirty="0">
                <a:solidFill>
                  <a:srgbClr val="153B50"/>
                </a:solidFill>
              </a:rPr>
              <a:t>Variables usadas</a:t>
            </a:r>
            <a:endParaRPr lang="en-US" sz="1800" dirty="0"/>
          </a:p>
        </p:txBody>
      </p:sp>
      <p:sp>
        <p:nvSpPr>
          <p:cNvPr id="7" name="Text 5"/>
          <p:cNvSpPr/>
          <p:nvPr/>
        </p:nvSpPr>
        <p:spPr>
          <a:xfrm>
            <a:off x="777240" y="1709928"/>
            <a:ext cx="3383280" cy="1325880"/>
          </a:xfrm>
          <a:prstGeom prst="rect">
            <a:avLst/>
          </a:prstGeom>
          <a:noFill/>
          <a:ln/>
        </p:spPr>
        <p:txBody>
          <a:bodyPr wrap="square" lIns="635" tIns="635" rIns="635" bIns="635" rtlCol="0" anchor="t">
            <a:normAutofit/>
          </a:bodyPr>
          <a:lstStyle/>
          <a:p>
            <a:r>
              <a:rPr lang="en-US" sz="1500" dirty="0">
                <a:solidFill>
                  <a:srgbClr val="1A1F2B"/>
                </a:solidFill>
              </a:rPr>
              <a:t>Age (</a:t>
            </a:r>
            <a:r>
              <a:rPr lang="en-US" sz="1500" dirty="0" err="1">
                <a:solidFill>
                  <a:srgbClr val="1A1F2B"/>
                </a:solidFill>
              </a:rPr>
              <a:t>Edad</a:t>
            </a:r>
            <a:r>
              <a:rPr lang="en-US" sz="1500" dirty="0">
                <a:solidFill>
                  <a:srgbClr val="1A1F2B"/>
                </a:solidFill>
              </a:rPr>
              <a:t>)</a:t>
            </a:r>
            <a:endParaRPr lang="en-US" sz="1500" dirty="0"/>
          </a:p>
          <a:p>
            <a:r>
              <a:rPr lang="en-US" sz="1500" dirty="0">
                <a:solidFill>
                  <a:srgbClr val="1A1F2B"/>
                </a:solidFill>
              </a:rPr>
              <a:t>Purchase Amount (USD) (</a:t>
            </a:r>
            <a:r>
              <a:rPr lang="en-US" sz="1500" dirty="0" err="1">
                <a:solidFill>
                  <a:srgbClr val="1A1F2B"/>
                </a:solidFill>
              </a:rPr>
              <a:t>Importe</a:t>
            </a:r>
            <a:r>
              <a:rPr lang="en-US" sz="1500" dirty="0">
                <a:solidFill>
                  <a:srgbClr val="1A1F2B"/>
                </a:solidFill>
              </a:rPr>
              <a:t> de la compra)</a:t>
            </a:r>
            <a:endParaRPr lang="en-US" sz="1500" dirty="0"/>
          </a:p>
          <a:p>
            <a:r>
              <a:rPr lang="en-US" sz="1500" dirty="0">
                <a:solidFill>
                  <a:srgbClr val="1A1F2B"/>
                </a:solidFill>
              </a:rPr>
              <a:t>Review Rating (</a:t>
            </a:r>
            <a:r>
              <a:rPr lang="en-US" sz="1500" dirty="0" err="1">
                <a:solidFill>
                  <a:srgbClr val="1A1F2B"/>
                </a:solidFill>
              </a:rPr>
              <a:t>Calificacion</a:t>
            </a:r>
            <a:r>
              <a:rPr lang="en-US" sz="1500" dirty="0">
                <a:solidFill>
                  <a:srgbClr val="1A1F2B"/>
                </a:solidFill>
              </a:rPr>
              <a:t> de la </a:t>
            </a:r>
            <a:r>
              <a:rPr lang="en-US" sz="1500" dirty="0" err="1">
                <a:solidFill>
                  <a:srgbClr val="1A1F2B"/>
                </a:solidFill>
              </a:rPr>
              <a:t>reseña</a:t>
            </a:r>
            <a:r>
              <a:rPr lang="en-US" sz="1500" dirty="0">
                <a:solidFill>
                  <a:srgbClr val="1A1F2B"/>
                </a:solidFill>
              </a:rPr>
              <a:t>)</a:t>
            </a:r>
            <a:endParaRPr lang="en-US" sz="1500" dirty="0"/>
          </a:p>
          <a:p>
            <a:r>
              <a:rPr lang="en-US" sz="1500" dirty="0">
                <a:solidFill>
                  <a:srgbClr val="1A1F2B"/>
                </a:solidFill>
              </a:rPr>
              <a:t>Previous Purchases (</a:t>
            </a:r>
            <a:r>
              <a:rPr lang="en-US" sz="1500" dirty="0" err="1">
                <a:solidFill>
                  <a:srgbClr val="1A1F2B"/>
                </a:solidFill>
              </a:rPr>
              <a:t>Compras</a:t>
            </a:r>
            <a:r>
              <a:rPr lang="en-US" sz="1500" dirty="0">
                <a:solidFill>
                  <a:srgbClr val="1A1F2B"/>
                </a:solidFill>
              </a:rPr>
              <a:t> </a:t>
            </a:r>
            <a:r>
              <a:rPr lang="en-US" sz="1500" dirty="0" err="1">
                <a:solidFill>
                  <a:srgbClr val="1A1F2B"/>
                </a:solidFill>
              </a:rPr>
              <a:t>anteriores</a:t>
            </a:r>
            <a:r>
              <a:rPr lang="en-US" sz="1500" dirty="0">
                <a:solidFill>
                  <a:srgbClr val="1A1F2B"/>
                </a:solidFill>
              </a:rPr>
              <a:t>)</a:t>
            </a:r>
            <a:endParaRPr lang="en-US" sz="1500" dirty="0"/>
          </a:p>
        </p:txBody>
      </p:sp>
      <p:sp>
        <p:nvSpPr>
          <p:cNvPr id="8" name="Text 6"/>
          <p:cNvSpPr/>
          <p:nvPr/>
        </p:nvSpPr>
        <p:spPr>
          <a:xfrm>
            <a:off x="731520" y="3310128"/>
            <a:ext cx="3200400" cy="292608"/>
          </a:xfrm>
          <a:prstGeom prst="rect">
            <a:avLst/>
          </a:prstGeom>
          <a:noFill/>
          <a:ln/>
        </p:spPr>
        <p:txBody>
          <a:bodyPr wrap="square" lIns="0" tIns="0" rIns="0" bIns="0" rtlCol="0" anchor="ctr"/>
          <a:lstStyle/>
          <a:p>
            <a:pPr marL="0" indent="0">
              <a:buNone/>
            </a:pPr>
            <a:r>
              <a:rPr lang="en-US" sz="1800" b="1" dirty="0">
                <a:solidFill>
                  <a:srgbClr val="153B50"/>
                </a:solidFill>
              </a:rPr>
              <a:t>Justificación</a:t>
            </a:r>
            <a:endParaRPr lang="en-US" sz="1800" dirty="0"/>
          </a:p>
        </p:txBody>
      </p:sp>
      <p:sp>
        <p:nvSpPr>
          <p:cNvPr id="9" name="Text 7"/>
          <p:cNvSpPr/>
          <p:nvPr/>
        </p:nvSpPr>
        <p:spPr>
          <a:xfrm>
            <a:off x="777240" y="3749040"/>
            <a:ext cx="4023360" cy="1143000"/>
          </a:xfrm>
          <a:prstGeom prst="rect">
            <a:avLst/>
          </a:prstGeom>
          <a:noFill/>
          <a:ln/>
        </p:spPr>
        <p:txBody>
          <a:bodyPr wrap="square" lIns="0" tIns="0" rIns="0" bIns="0" rtlCol="0" anchor="ctr">
            <a:normAutofit/>
          </a:bodyPr>
          <a:lstStyle/>
          <a:p>
            <a:pPr marL="0" indent="0">
              <a:buNone/>
            </a:pPr>
            <a:r>
              <a:rPr lang="en-US" sz="1500" dirty="0">
                <a:solidFill>
                  <a:srgbClr val="1A1F2B"/>
                </a:solidFill>
              </a:rPr>
              <a:t>Representan perfil demográfico, gasto, valoración de experiencia e historial de compra. Todas son numéricas y pueden estandarizarse directamente.</a:t>
            </a:r>
            <a:endParaRPr lang="en-US" sz="1500" dirty="0"/>
          </a:p>
        </p:txBody>
      </p:sp>
      <p:pic>
        <p:nvPicPr>
          <p:cNvPr id="10" name="Image 0" descr="/mnt/data/deck_assets/elbow.png"/>
          <p:cNvPicPr>
            <a:picLocks noChangeAspect="1"/>
          </p:cNvPicPr>
          <p:nvPr/>
        </p:nvPicPr>
        <p:blipFill>
          <a:blip r:embed="rId3"/>
          <a:stretch>
            <a:fillRect/>
          </a:stretch>
        </p:blipFill>
        <p:spPr>
          <a:xfrm>
            <a:off x="5166360" y="1143000"/>
            <a:ext cx="6126480" cy="3611880"/>
          </a:xfrm>
          <a:prstGeom prst="rect">
            <a:avLst/>
          </a:prstGeom>
        </p:spPr>
      </p:pic>
      <p:sp>
        <p:nvSpPr>
          <p:cNvPr id="11" name="Text 8"/>
          <p:cNvSpPr/>
          <p:nvPr/>
        </p:nvSpPr>
        <p:spPr>
          <a:xfrm>
            <a:off x="5669280" y="5166360"/>
            <a:ext cx="2148840" cy="347472"/>
          </a:xfrm>
          <a:prstGeom prst="rect">
            <a:avLst/>
          </a:prstGeom>
          <a:noFill/>
          <a:ln/>
        </p:spPr>
        <p:txBody>
          <a:bodyPr wrap="square" lIns="0" tIns="0" rIns="0" bIns="0" rtlCol="0" anchor="ctr"/>
          <a:lstStyle/>
          <a:p>
            <a:pPr marL="0" indent="0">
              <a:buNone/>
            </a:pPr>
            <a:r>
              <a:rPr lang="en-US" sz="2000" b="1" dirty="0">
                <a:solidFill>
                  <a:srgbClr val="F08A4B"/>
                </a:solidFill>
              </a:rPr>
              <a:t>Se eligió K = 4</a:t>
            </a:r>
            <a:endParaRPr lang="en-US" sz="2000" dirty="0"/>
          </a:p>
        </p:txBody>
      </p:sp>
      <p:sp>
        <p:nvSpPr>
          <p:cNvPr id="12" name="Text 9"/>
          <p:cNvSpPr/>
          <p:nvPr/>
        </p:nvSpPr>
        <p:spPr>
          <a:xfrm>
            <a:off x="8001000" y="5193792"/>
            <a:ext cx="3291840" cy="365760"/>
          </a:xfrm>
          <a:prstGeom prst="rect">
            <a:avLst/>
          </a:prstGeom>
          <a:noFill/>
          <a:ln/>
        </p:spPr>
        <p:txBody>
          <a:bodyPr wrap="square" lIns="0" tIns="0" rIns="0" bIns="0" rtlCol="0" anchor="ctr">
            <a:normAutofit lnSpcReduction="10000"/>
          </a:bodyPr>
          <a:lstStyle/>
          <a:p>
            <a:pPr marL="0" indent="0">
              <a:buNone/>
            </a:pPr>
            <a:r>
              <a:rPr lang="en-US" sz="1300" dirty="0">
                <a:solidFill>
                  <a:srgbClr val="5E6975"/>
                </a:solidFill>
              </a:rPr>
              <a:t>Equilibra reducción de inercia e interpretabilidad.</a:t>
            </a:r>
            <a:endParaRPr lang="en-US" sz="1300" dirty="0"/>
          </a:p>
        </p:txBody>
      </p:sp>
      <p:sp>
        <p:nvSpPr>
          <p:cNvPr id="13" name="Text 10"/>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Diego Jiménez Morales</a:t>
            </a:r>
            <a:endParaRPr lang="en-US" sz="850" dirty="0"/>
          </a:p>
        </p:txBody>
      </p:sp>
      <p:sp>
        <p:nvSpPr>
          <p:cNvPr id="14" name="Text 11"/>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Perfiles encontrados con K-Means</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Cuatro segmentos de clientes</a:t>
            </a:r>
            <a:endParaRPr lang="en-US" sz="1250" dirty="0"/>
          </a:p>
        </p:txBody>
      </p:sp>
      <p:sp>
        <p:nvSpPr>
          <p:cNvPr id="6" name="Text 4"/>
          <p:cNvSpPr/>
          <p:nvPr/>
        </p:nvSpPr>
        <p:spPr>
          <a:xfrm>
            <a:off x="685800" y="1188720"/>
            <a:ext cx="2377440" cy="292608"/>
          </a:xfrm>
          <a:prstGeom prst="rect">
            <a:avLst/>
          </a:prstGeom>
          <a:noFill/>
          <a:ln/>
        </p:spPr>
        <p:txBody>
          <a:bodyPr wrap="square" lIns="0" tIns="0" rIns="0" bIns="0" rtlCol="0" anchor="ctr">
            <a:normAutofit/>
          </a:bodyPr>
          <a:lstStyle/>
          <a:p>
            <a:pPr marL="0" indent="0" algn="ctr">
              <a:buNone/>
            </a:pPr>
            <a:r>
              <a:rPr lang="en-US" sz="1800" b="1" dirty="0">
                <a:solidFill>
                  <a:srgbClr val="1C7C7D"/>
                </a:solidFill>
              </a:rPr>
              <a:t>966</a:t>
            </a:r>
            <a:endParaRPr lang="en-US" sz="1800" dirty="0"/>
          </a:p>
        </p:txBody>
      </p:sp>
      <p:sp>
        <p:nvSpPr>
          <p:cNvPr id="7" name="Text 5"/>
          <p:cNvSpPr/>
          <p:nvPr/>
        </p:nvSpPr>
        <p:spPr>
          <a:xfrm>
            <a:off x="685800" y="1536192"/>
            <a:ext cx="237744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C0: alta edad + alto gasto</a:t>
            </a:r>
            <a:endParaRPr lang="en-US" sz="1050" dirty="0"/>
          </a:p>
        </p:txBody>
      </p:sp>
      <p:sp>
        <p:nvSpPr>
          <p:cNvPr id="8" name="Text 6"/>
          <p:cNvSpPr/>
          <p:nvPr/>
        </p:nvSpPr>
        <p:spPr>
          <a:xfrm>
            <a:off x="3246120" y="1188720"/>
            <a:ext cx="2377440" cy="292608"/>
          </a:xfrm>
          <a:prstGeom prst="rect">
            <a:avLst/>
          </a:prstGeom>
          <a:noFill/>
          <a:ln/>
        </p:spPr>
        <p:txBody>
          <a:bodyPr wrap="square" lIns="0" tIns="0" rIns="0" bIns="0" rtlCol="0" anchor="ctr">
            <a:normAutofit/>
          </a:bodyPr>
          <a:lstStyle/>
          <a:p>
            <a:pPr marL="0" indent="0" algn="ctr">
              <a:buNone/>
            </a:pPr>
            <a:r>
              <a:rPr lang="en-US" sz="1800" b="1" dirty="0">
                <a:solidFill>
                  <a:srgbClr val="EAA43A"/>
                </a:solidFill>
              </a:rPr>
              <a:t>969</a:t>
            </a:r>
            <a:endParaRPr lang="en-US" sz="1800" dirty="0"/>
          </a:p>
        </p:txBody>
      </p:sp>
      <p:sp>
        <p:nvSpPr>
          <p:cNvPr id="9" name="Text 7"/>
          <p:cNvSpPr/>
          <p:nvPr/>
        </p:nvSpPr>
        <p:spPr>
          <a:xfrm>
            <a:off x="3246120" y="1536192"/>
            <a:ext cx="237744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C1: jóvenes satisfechos</a:t>
            </a:r>
            <a:endParaRPr lang="en-US" sz="1050" dirty="0"/>
          </a:p>
        </p:txBody>
      </p:sp>
      <p:sp>
        <p:nvSpPr>
          <p:cNvPr id="10" name="Text 8"/>
          <p:cNvSpPr/>
          <p:nvPr/>
        </p:nvSpPr>
        <p:spPr>
          <a:xfrm>
            <a:off x="5806440" y="1188720"/>
            <a:ext cx="2651760" cy="292608"/>
          </a:xfrm>
          <a:prstGeom prst="rect">
            <a:avLst/>
          </a:prstGeom>
          <a:noFill/>
          <a:ln/>
        </p:spPr>
        <p:txBody>
          <a:bodyPr wrap="square" lIns="0" tIns="0" rIns="0" bIns="0" rtlCol="0" anchor="ctr">
            <a:normAutofit/>
          </a:bodyPr>
          <a:lstStyle/>
          <a:p>
            <a:pPr marL="0" indent="0" algn="ctr">
              <a:buNone/>
            </a:pPr>
            <a:r>
              <a:rPr lang="en-US" sz="1800" b="1" dirty="0">
                <a:solidFill>
                  <a:srgbClr val="F08A4B"/>
                </a:solidFill>
              </a:rPr>
              <a:t>986</a:t>
            </a:r>
            <a:endParaRPr lang="en-US" sz="1800" dirty="0"/>
          </a:p>
        </p:txBody>
      </p:sp>
      <p:sp>
        <p:nvSpPr>
          <p:cNvPr id="11" name="Text 9"/>
          <p:cNvSpPr/>
          <p:nvPr/>
        </p:nvSpPr>
        <p:spPr>
          <a:xfrm>
            <a:off x="5806440" y="1536192"/>
            <a:ext cx="265176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C2: jóvenes con menor satisfacción</a:t>
            </a:r>
            <a:endParaRPr lang="en-US" sz="1050" dirty="0"/>
          </a:p>
        </p:txBody>
      </p:sp>
      <p:sp>
        <p:nvSpPr>
          <p:cNvPr id="12" name="Text 10"/>
          <p:cNvSpPr/>
          <p:nvPr/>
        </p:nvSpPr>
        <p:spPr>
          <a:xfrm>
            <a:off x="8732520" y="1188720"/>
            <a:ext cx="2377440" cy="292608"/>
          </a:xfrm>
          <a:prstGeom prst="rect">
            <a:avLst/>
          </a:prstGeom>
          <a:noFill/>
          <a:ln/>
        </p:spPr>
        <p:txBody>
          <a:bodyPr wrap="square" lIns="0" tIns="0" rIns="0" bIns="0" rtlCol="0" anchor="ctr">
            <a:normAutofit/>
          </a:bodyPr>
          <a:lstStyle/>
          <a:p>
            <a:pPr marL="0" indent="0" algn="ctr">
              <a:buNone/>
            </a:pPr>
            <a:r>
              <a:rPr lang="en-US" sz="1800" b="1" dirty="0">
                <a:solidFill>
                  <a:srgbClr val="2A75BB"/>
                </a:solidFill>
              </a:rPr>
              <a:t>979</a:t>
            </a:r>
            <a:endParaRPr lang="en-US" sz="1800" dirty="0"/>
          </a:p>
        </p:txBody>
      </p:sp>
      <p:sp>
        <p:nvSpPr>
          <p:cNvPr id="13" name="Text 11"/>
          <p:cNvSpPr/>
          <p:nvPr/>
        </p:nvSpPr>
        <p:spPr>
          <a:xfrm>
            <a:off x="8732520" y="1536192"/>
            <a:ext cx="2377440" cy="292608"/>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C3: alta edad + bajo gasto</a:t>
            </a:r>
            <a:endParaRPr lang="en-US" sz="1050" dirty="0"/>
          </a:p>
        </p:txBody>
      </p:sp>
      <p:sp>
        <p:nvSpPr>
          <p:cNvPr id="14" name="Text 12"/>
          <p:cNvSpPr/>
          <p:nvPr/>
        </p:nvSpPr>
        <p:spPr>
          <a:xfrm>
            <a:off x="685800" y="2514600"/>
            <a:ext cx="4023360" cy="320040"/>
          </a:xfrm>
          <a:prstGeom prst="rect">
            <a:avLst/>
          </a:prstGeom>
          <a:noFill/>
          <a:ln/>
        </p:spPr>
        <p:txBody>
          <a:bodyPr wrap="square" lIns="0" tIns="0" rIns="0" bIns="0" rtlCol="0" anchor="ctr"/>
          <a:lstStyle/>
          <a:p>
            <a:pPr marL="0" indent="0">
              <a:buNone/>
            </a:pPr>
            <a:r>
              <a:rPr lang="en-US" sz="1800" b="1" dirty="0">
                <a:solidFill>
                  <a:srgbClr val="153B50"/>
                </a:solidFill>
              </a:rPr>
              <a:t>Valores promedio por cluster</a:t>
            </a:r>
            <a:endParaRPr lang="en-US" sz="1800" dirty="0"/>
          </a:p>
        </p:txBody>
      </p:sp>
      <p:sp>
        <p:nvSpPr>
          <p:cNvPr id="15" name="Text 13"/>
          <p:cNvSpPr/>
          <p:nvPr/>
        </p:nvSpPr>
        <p:spPr>
          <a:xfrm>
            <a:off x="713232" y="2944368"/>
            <a:ext cx="4754880" cy="1078992"/>
          </a:xfrm>
          <a:prstGeom prst="rect">
            <a:avLst/>
          </a:prstGeom>
          <a:noFill/>
          <a:ln/>
        </p:spPr>
        <p:txBody>
          <a:bodyPr wrap="square" lIns="0" tIns="0" rIns="0" bIns="0" rtlCol="0" anchor="ctr">
            <a:normAutofit/>
          </a:bodyPr>
          <a:lstStyle/>
          <a:p>
            <a:pPr marL="0" indent="0">
              <a:buNone/>
            </a:pPr>
            <a:r>
              <a:rPr lang="en-US" sz="1230" dirty="0">
                <a:solidFill>
                  <a:srgbClr val="1A1F2B"/>
                </a:solidFill>
              </a:rPr>
              <a:t>C0: edad 56.22 · compra 82.08 USD · rating 3.96</a:t>
            </a:r>
            <a:endParaRPr lang="en-US" sz="1230" dirty="0"/>
          </a:p>
          <a:p>
            <a:pPr marL="0" indent="0">
              <a:buNone/>
            </a:pPr>
            <a:r>
              <a:rPr lang="en-US" sz="1230" dirty="0">
                <a:solidFill>
                  <a:srgbClr val="1A1F2B"/>
                </a:solidFill>
              </a:rPr>
              <a:t>C1: edad 31.33 · compra 54.86 USD · rating 4.43</a:t>
            </a:r>
            <a:endParaRPr lang="en-US" sz="1230" dirty="0"/>
          </a:p>
          <a:p>
            <a:pPr marL="0" indent="0">
              <a:buNone/>
            </a:pPr>
            <a:r>
              <a:rPr lang="en-US" sz="1230" dirty="0">
                <a:solidFill>
                  <a:srgbClr val="1A1F2B"/>
                </a:solidFill>
              </a:rPr>
              <a:t>C2: edad 32.59 · compra 64.76 USD · rating 3.09</a:t>
            </a:r>
            <a:endParaRPr lang="en-US" sz="1230" dirty="0"/>
          </a:p>
          <a:p>
            <a:pPr marL="0" indent="0">
              <a:buNone/>
            </a:pPr>
            <a:r>
              <a:rPr lang="en-US" sz="1230" dirty="0">
                <a:solidFill>
                  <a:srgbClr val="1A1F2B"/>
                </a:solidFill>
              </a:rPr>
              <a:t>C3: edad 56.26 · compra 37.57 USD · rating 3.54</a:t>
            </a:r>
            <a:endParaRPr lang="en-US" sz="1230" dirty="0"/>
          </a:p>
        </p:txBody>
      </p:sp>
      <p:pic>
        <p:nvPicPr>
          <p:cNvPr id="16" name="Image 0" descr="/mnt/data/deck_assets/cluster_purchase.png"/>
          <p:cNvPicPr>
            <a:picLocks noChangeAspect="1"/>
          </p:cNvPicPr>
          <p:nvPr/>
        </p:nvPicPr>
        <p:blipFill>
          <a:blip r:embed="rId3"/>
          <a:stretch>
            <a:fillRect/>
          </a:stretch>
        </p:blipFill>
        <p:spPr>
          <a:xfrm>
            <a:off x="5897880" y="2743200"/>
            <a:ext cx="2651760" cy="1737360"/>
          </a:xfrm>
          <a:prstGeom prst="rect">
            <a:avLst/>
          </a:prstGeom>
        </p:spPr>
      </p:pic>
      <p:pic>
        <p:nvPicPr>
          <p:cNvPr id="17" name="Image 1" descr="/mnt/data/deck_assets/cluster_rating.png"/>
          <p:cNvPicPr>
            <a:picLocks noChangeAspect="1"/>
          </p:cNvPicPr>
          <p:nvPr/>
        </p:nvPicPr>
        <p:blipFill>
          <a:blip r:embed="rId4"/>
          <a:stretch>
            <a:fillRect/>
          </a:stretch>
        </p:blipFill>
        <p:spPr>
          <a:xfrm>
            <a:off x="8823960" y="2743200"/>
            <a:ext cx="2651760" cy="1737360"/>
          </a:xfrm>
          <a:prstGeom prst="rect">
            <a:avLst/>
          </a:prstGeom>
        </p:spPr>
      </p:pic>
      <p:sp>
        <p:nvSpPr>
          <p:cNvPr id="18" name="Text 14"/>
          <p:cNvSpPr/>
          <p:nvPr/>
        </p:nvSpPr>
        <p:spPr>
          <a:xfrm>
            <a:off x="685800" y="4892040"/>
            <a:ext cx="2743200" cy="292608"/>
          </a:xfrm>
          <a:prstGeom prst="rect">
            <a:avLst/>
          </a:prstGeom>
          <a:noFill/>
          <a:ln/>
        </p:spPr>
        <p:txBody>
          <a:bodyPr wrap="square" lIns="0" tIns="0" rIns="0" bIns="0" rtlCol="0" anchor="ctr"/>
          <a:lstStyle/>
          <a:p>
            <a:pPr marL="0" indent="0">
              <a:buNone/>
            </a:pPr>
            <a:r>
              <a:rPr lang="en-US" sz="1700" b="1" dirty="0">
                <a:solidFill>
                  <a:srgbClr val="1C7C7D"/>
                </a:solidFill>
              </a:rPr>
              <a:t>Lectura clave</a:t>
            </a:r>
            <a:endParaRPr lang="en-US" sz="1700" dirty="0"/>
          </a:p>
        </p:txBody>
      </p:sp>
      <p:sp>
        <p:nvSpPr>
          <p:cNvPr id="19" name="Text 15"/>
          <p:cNvSpPr/>
          <p:nvPr/>
        </p:nvSpPr>
        <p:spPr>
          <a:xfrm>
            <a:off x="3566160" y="4892040"/>
            <a:ext cx="7635240" cy="502920"/>
          </a:xfrm>
          <a:prstGeom prst="rect">
            <a:avLst/>
          </a:prstGeom>
          <a:noFill/>
          <a:ln/>
        </p:spPr>
        <p:txBody>
          <a:bodyPr wrap="square" lIns="0" tIns="0" rIns="0" bIns="0" rtlCol="0" anchor="ctr">
            <a:normAutofit/>
          </a:bodyPr>
          <a:lstStyle/>
          <a:p>
            <a:pPr marL="0" indent="0">
              <a:buNone/>
            </a:pPr>
            <a:r>
              <a:rPr lang="en-US" sz="1450" dirty="0">
                <a:solidFill>
                  <a:srgbClr val="1A1F2B"/>
                </a:solidFill>
              </a:rPr>
              <a:t>El cluster 0 es el segmento de mayor gasto; el cluster 2 combina gasto medio-alto con la menor satisfacción, por lo que requiere atención.</a:t>
            </a:r>
            <a:endParaRPr lang="en-US" sz="1450" dirty="0"/>
          </a:p>
        </p:txBody>
      </p:sp>
      <p:sp>
        <p:nvSpPr>
          <p:cNvPr id="20" name="Text 16"/>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Diego Jiménez Morales</a:t>
            </a:r>
            <a:endParaRPr lang="en-US" sz="850" dirty="0"/>
          </a:p>
        </p:txBody>
      </p:sp>
      <p:sp>
        <p:nvSpPr>
          <p:cNvPr id="21" name="Text 17"/>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Segundo componente: analítica predictiva</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Regresión logística para predecir suscripción</a:t>
            </a:r>
            <a:endParaRPr lang="en-US" sz="1250" dirty="0"/>
          </a:p>
        </p:txBody>
      </p:sp>
      <p:sp>
        <p:nvSpPr>
          <p:cNvPr id="6" name="Text 4"/>
          <p:cNvSpPr/>
          <p:nvPr/>
        </p:nvSpPr>
        <p:spPr>
          <a:xfrm>
            <a:off x="685800" y="1143000"/>
            <a:ext cx="2468880" cy="292608"/>
          </a:xfrm>
          <a:prstGeom prst="rect">
            <a:avLst/>
          </a:prstGeom>
          <a:noFill/>
          <a:ln/>
        </p:spPr>
        <p:txBody>
          <a:bodyPr wrap="square" lIns="0" tIns="0" rIns="0" bIns="0" rtlCol="0" anchor="ctr"/>
          <a:lstStyle/>
          <a:p>
            <a:pPr marL="0" indent="0">
              <a:buNone/>
            </a:pPr>
            <a:r>
              <a:rPr lang="en-US" sz="1800" b="1" dirty="0">
                <a:solidFill>
                  <a:srgbClr val="153B50"/>
                </a:solidFill>
              </a:rPr>
              <a:t>Objetivo</a:t>
            </a:r>
            <a:endParaRPr lang="en-US" sz="1800" dirty="0"/>
          </a:p>
        </p:txBody>
      </p:sp>
      <p:sp>
        <p:nvSpPr>
          <p:cNvPr id="7" name="Text 5"/>
          <p:cNvSpPr/>
          <p:nvPr/>
        </p:nvSpPr>
        <p:spPr>
          <a:xfrm>
            <a:off x="685800" y="1572768"/>
            <a:ext cx="4754880" cy="347472"/>
          </a:xfrm>
          <a:prstGeom prst="rect">
            <a:avLst/>
          </a:prstGeom>
          <a:noFill/>
          <a:ln/>
        </p:spPr>
        <p:txBody>
          <a:bodyPr wrap="square" lIns="0" tIns="0" rIns="0" bIns="0" rtlCol="0" anchor="ctr"/>
          <a:lstStyle/>
          <a:p>
            <a:pPr marL="0" indent="0">
              <a:buNone/>
            </a:pPr>
            <a:r>
              <a:rPr lang="en-US" sz="1700" dirty="0">
                <a:solidFill>
                  <a:srgbClr val="1A1F2B"/>
                </a:solidFill>
              </a:rPr>
              <a:t>Predecir Subscription Status: Yes / No</a:t>
            </a:r>
            <a:endParaRPr lang="en-US" sz="1700" dirty="0"/>
          </a:p>
        </p:txBody>
      </p:sp>
      <p:sp>
        <p:nvSpPr>
          <p:cNvPr id="8" name="Text 6"/>
          <p:cNvSpPr/>
          <p:nvPr/>
        </p:nvSpPr>
        <p:spPr>
          <a:xfrm>
            <a:off x="685800" y="2148840"/>
            <a:ext cx="4754880" cy="1874520"/>
          </a:xfrm>
          <a:prstGeom prst="rect">
            <a:avLst/>
          </a:prstGeom>
          <a:noFill/>
          <a:ln/>
        </p:spPr>
        <p:txBody>
          <a:bodyPr wrap="square" lIns="635" tIns="635" rIns="635" bIns="635" rtlCol="0" anchor="t">
            <a:normAutofit/>
          </a:bodyPr>
          <a:lstStyle/>
          <a:p>
            <a:r>
              <a:rPr lang="en-US" sz="1350" dirty="0">
                <a:solidFill>
                  <a:srgbClr val="1A1F2B"/>
                </a:solidFill>
              </a:rPr>
              <a:t>70% entrenamiento: 2,730 registros.</a:t>
            </a:r>
            <a:endParaRPr lang="en-US" sz="1350" dirty="0"/>
          </a:p>
          <a:p>
            <a:r>
              <a:rPr lang="en-US" sz="1350" dirty="0">
                <a:solidFill>
                  <a:srgbClr val="1A1F2B"/>
                </a:solidFill>
              </a:rPr>
              <a:t>30% prueba: 1,170 registros.</a:t>
            </a:r>
            <a:endParaRPr lang="en-US" sz="1350" dirty="0"/>
          </a:p>
          <a:p>
            <a:r>
              <a:rPr lang="en-US" sz="1350" dirty="0">
                <a:solidFill>
                  <a:srgbClr val="1A1F2B"/>
                </a:solidFill>
              </a:rPr>
              <a:t>Variables numéricas: StandardScaler.</a:t>
            </a:r>
            <a:endParaRPr lang="en-US" sz="1350" dirty="0"/>
          </a:p>
          <a:p>
            <a:r>
              <a:rPr lang="en-US" sz="1350" dirty="0">
                <a:solidFill>
                  <a:srgbClr val="1A1F2B"/>
                </a:solidFill>
              </a:rPr>
              <a:t>Variables categóricas: OneHotEncoder.</a:t>
            </a:r>
            <a:endParaRPr lang="en-US" sz="1350" dirty="0"/>
          </a:p>
          <a:p>
            <a:r>
              <a:rPr lang="en-US" sz="1350" dirty="0">
                <a:solidFill>
                  <a:srgbClr val="1A1F2B"/>
                </a:solidFill>
              </a:rPr>
              <a:t>Clases balanceadas con class_weight='balanced'.</a:t>
            </a:r>
            <a:endParaRPr lang="en-US" sz="1350" dirty="0"/>
          </a:p>
        </p:txBody>
      </p:sp>
      <p:sp>
        <p:nvSpPr>
          <p:cNvPr id="9" name="Text 7"/>
          <p:cNvSpPr/>
          <p:nvPr/>
        </p:nvSpPr>
        <p:spPr>
          <a:xfrm>
            <a:off x="6446520" y="1143000"/>
            <a:ext cx="1737360" cy="347472"/>
          </a:xfrm>
          <a:prstGeom prst="rect">
            <a:avLst/>
          </a:prstGeom>
          <a:noFill/>
          <a:ln/>
        </p:spPr>
        <p:txBody>
          <a:bodyPr wrap="square" lIns="0" tIns="0" rIns="0" bIns="0" rtlCol="0" anchor="ctr"/>
          <a:lstStyle/>
          <a:p>
            <a:pPr marL="0" indent="0" algn="ctr">
              <a:buNone/>
            </a:pPr>
            <a:r>
              <a:rPr lang="en-US" sz="2400" b="1" dirty="0">
                <a:solidFill>
                  <a:srgbClr val="F08A4B"/>
                </a:solidFill>
              </a:rPr>
              <a:t>84.19%</a:t>
            </a:r>
            <a:endParaRPr lang="en-US" sz="2400" dirty="0"/>
          </a:p>
        </p:txBody>
      </p:sp>
      <p:sp>
        <p:nvSpPr>
          <p:cNvPr id="10" name="Text 8"/>
          <p:cNvSpPr/>
          <p:nvPr/>
        </p:nvSpPr>
        <p:spPr>
          <a:xfrm>
            <a:off x="6446520" y="152704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exactitud del modelo</a:t>
            </a:r>
            <a:endParaRPr lang="en-US" sz="1050" dirty="0"/>
          </a:p>
        </p:txBody>
      </p:sp>
      <p:sp>
        <p:nvSpPr>
          <p:cNvPr id="11" name="Text 9"/>
          <p:cNvSpPr/>
          <p:nvPr/>
        </p:nvSpPr>
        <p:spPr>
          <a:xfrm>
            <a:off x="8823960" y="1143000"/>
            <a:ext cx="1737360" cy="347472"/>
          </a:xfrm>
          <a:prstGeom prst="rect">
            <a:avLst/>
          </a:prstGeom>
          <a:noFill/>
          <a:ln/>
        </p:spPr>
        <p:txBody>
          <a:bodyPr wrap="square" lIns="0" tIns="0" rIns="0" bIns="0" rtlCol="0" anchor="ctr"/>
          <a:lstStyle/>
          <a:p>
            <a:pPr marL="0" indent="0" algn="ctr">
              <a:buNone/>
            </a:pPr>
            <a:r>
              <a:rPr lang="en-US" sz="2400" b="1" dirty="0">
                <a:solidFill>
                  <a:srgbClr val="5E6975"/>
                </a:solidFill>
              </a:rPr>
              <a:t>72.99%</a:t>
            </a:r>
            <a:endParaRPr lang="en-US" sz="2400" dirty="0"/>
          </a:p>
        </p:txBody>
      </p:sp>
      <p:sp>
        <p:nvSpPr>
          <p:cNvPr id="12" name="Text 10"/>
          <p:cNvSpPr/>
          <p:nvPr/>
        </p:nvSpPr>
        <p:spPr>
          <a:xfrm>
            <a:off x="8823960" y="1527048"/>
            <a:ext cx="1737360" cy="310896"/>
          </a:xfrm>
          <a:prstGeom prst="rect">
            <a:avLst/>
          </a:prstGeom>
          <a:noFill/>
          <a:ln/>
        </p:spPr>
        <p:txBody>
          <a:bodyPr wrap="square" lIns="0" tIns="0" rIns="0" bIns="0" rtlCol="0" anchor="ctr">
            <a:normAutofit/>
          </a:bodyPr>
          <a:lstStyle/>
          <a:p>
            <a:pPr marL="0" indent="0" algn="ctr">
              <a:buNone/>
            </a:pPr>
            <a:r>
              <a:rPr lang="en-US" sz="1050" dirty="0">
                <a:solidFill>
                  <a:srgbClr val="5E6975"/>
                </a:solidFill>
              </a:rPr>
              <a:t>referencia clase mayoritaria</a:t>
            </a:r>
            <a:endParaRPr lang="en-US" sz="1050" dirty="0"/>
          </a:p>
        </p:txBody>
      </p:sp>
      <p:sp>
        <p:nvSpPr>
          <p:cNvPr id="13" name="Text 11"/>
          <p:cNvSpPr/>
          <p:nvPr/>
        </p:nvSpPr>
        <p:spPr>
          <a:xfrm>
            <a:off x="7360920" y="2514600"/>
            <a:ext cx="2926080" cy="310896"/>
          </a:xfrm>
          <a:prstGeom prst="rect">
            <a:avLst/>
          </a:prstGeom>
          <a:noFill/>
          <a:ln/>
        </p:spPr>
        <p:txBody>
          <a:bodyPr wrap="square" lIns="0" tIns="0" rIns="0" bIns="0" rtlCol="0" anchor="ctr"/>
          <a:lstStyle/>
          <a:p>
            <a:pPr marL="0" indent="0" algn="ctr">
              <a:buNone/>
            </a:pPr>
            <a:r>
              <a:rPr lang="en-US" sz="1800" b="1" dirty="0">
                <a:solidFill>
                  <a:srgbClr val="4B9A68"/>
                </a:solidFill>
              </a:rPr>
              <a:t>+11.20 puntos porcentuales</a:t>
            </a:r>
            <a:endParaRPr lang="en-US" sz="1800" dirty="0"/>
          </a:p>
        </p:txBody>
      </p:sp>
      <p:pic>
        <p:nvPicPr>
          <p:cNvPr id="14" name="Image 0" descr="/mnt/data/deck_assets/confusion.png"/>
          <p:cNvPicPr>
            <a:picLocks noChangeAspect="1"/>
          </p:cNvPicPr>
          <p:nvPr/>
        </p:nvPicPr>
        <p:blipFill>
          <a:blip r:embed="rId3"/>
          <a:stretch>
            <a:fillRect/>
          </a:stretch>
        </p:blipFill>
        <p:spPr>
          <a:xfrm>
            <a:off x="6675120" y="3154680"/>
            <a:ext cx="3657600" cy="2514600"/>
          </a:xfrm>
          <a:prstGeom prst="rect">
            <a:avLst/>
          </a:prstGeom>
        </p:spPr>
      </p:pic>
      <p:sp>
        <p:nvSpPr>
          <p:cNvPr id="15" name="Text 12"/>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Diego Jiménez Morales</a:t>
            </a:r>
            <a:endParaRPr lang="en-US" sz="850" dirty="0"/>
          </a:p>
        </p:txBody>
      </p:sp>
      <p:sp>
        <p:nvSpPr>
          <p:cNvPr id="16" name="Text 13"/>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De los resultados a decisiones</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Cómo podrían usarse los hallazgos</a:t>
            </a:r>
            <a:endParaRPr lang="en-US" sz="1250" dirty="0"/>
          </a:p>
        </p:txBody>
      </p:sp>
      <p:sp>
        <p:nvSpPr>
          <p:cNvPr id="6" name="Text 4"/>
          <p:cNvSpPr/>
          <p:nvPr/>
        </p:nvSpPr>
        <p:spPr>
          <a:xfrm>
            <a:off x="685800" y="1143000"/>
            <a:ext cx="3657600" cy="320040"/>
          </a:xfrm>
          <a:prstGeom prst="rect">
            <a:avLst/>
          </a:prstGeom>
          <a:noFill/>
          <a:ln/>
        </p:spPr>
        <p:txBody>
          <a:bodyPr wrap="square" lIns="0" tIns="0" rIns="0" bIns="0" rtlCol="0" anchor="ctr"/>
          <a:lstStyle/>
          <a:p>
            <a:pPr marL="0" indent="0">
              <a:buNone/>
            </a:pPr>
            <a:r>
              <a:rPr lang="en-US" sz="1800" b="1" dirty="0">
                <a:solidFill>
                  <a:srgbClr val="153B50"/>
                </a:solidFill>
              </a:rPr>
              <a:t>Hallazgos</a:t>
            </a:r>
            <a:endParaRPr lang="en-US" sz="1800" dirty="0"/>
          </a:p>
        </p:txBody>
      </p:sp>
      <p:sp>
        <p:nvSpPr>
          <p:cNvPr id="7" name="Text 5"/>
          <p:cNvSpPr/>
          <p:nvPr/>
        </p:nvSpPr>
        <p:spPr>
          <a:xfrm>
            <a:off x="685800" y="1600200"/>
            <a:ext cx="4892040" cy="2286000"/>
          </a:xfrm>
          <a:prstGeom prst="rect">
            <a:avLst/>
          </a:prstGeom>
          <a:noFill/>
          <a:ln/>
        </p:spPr>
        <p:txBody>
          <a:bodyPr wrap="square" lIns="635" tIns="635" rIns="635" bIns="635" rtlCol="0" anchor="t">
            <a:normAutofit/>
          </a:bodyPr>
          <a:lstStyle/>
          <a:p>
            <a:r>
              <a:rPr lang="en-US" sz="1400" dirty="0">
                <a:solidFill>
                  <a:srgbClr val="1A1F2B"/>
                </a:solidFill>
              </a:rPr>
              <a:t>Cluster 0: mayor gasto promedio (82.08 USD).</a:t>
            </a:r>
            <a:endParaRPr lang="en-US" sz="1400" dirty="0"/>
          </a:p>
          <a:p>
            <a:r>
              <a:rPr lang="en-US" sz="1400" dirty="0">
                <a:solidFill>
                  <a:srgbClr val="1A1F2B"/>
                </a:solidFill>
              </a:rPr>
              <a:t>Cluster 2: gasto medio-alto, menor satisfacción (3.09).</a:t>
            </a:r>
            <a:endParaRPr lang="en-US" sz="1400" dirty="0"/>
          </a:p>
          <a:p>
            <a:r>
              <a:rPr lang="en-US" sz="1400" dirty="0">
                <a:solidFill>
                  <a:srgbClr val="1A1F2B"/>
                </a:solidFill>
              </a:rPr>
              <a:t>Cluster 1: mayor satisfacción (4.43).</a:t>
            </a:r>
            <a:endParaRPr lang="en-US" sz="1400" dirty="0"/>
          </a:p>
          <a:p>
            <a:r>
              <a:rPr lang="en-US" sz="1400" dirty="0">
                <a:solidFill>
                  <a:srgbClr val="1A1F2B"/>
                </a:solidFill>
              </a:rPr>
              <a:t>Modelo: 84.19% de exactitud, pero falsos positivos.</a:t>
            </a:r>
            <a:endParaRPr lang="en-US" sz="1400" dirty="0"/>
          </a:p>
        </p:txBody>
      </p:sp>
      <p:sp>
        <p:nvSpPr>
          <p:cNvPr id="8" name="Text 6"/>
          <p:cNvSpPr/>
          <p:nvPr/>
        </p:nvSpPr>
        <p:spPr>
          <a:xfrm>
            <a:off x="6309360" y="1143000"/>
            <a:ext cx="3657600" cy="320040"/>
          </a:xfrm>
          <a:prstGeom prst="rect">
            <a:avLst/>
          </a:prstGeom>
          <a:noFill/>
          <a:ln/>
        </p:spPr>
        <p:txBody>
          <a:bodyPr wrap="square" lIns="0" tIns="0" rIns="0" bIns="0" rtlCol="0" anchor="ctr"/>
          <a:lstStyle/>
          <a:p>
            <a:pPr marL="0" indent="0">
              <a:buNone/>
            </a:pPr>
            <a:r>
              <a:rPr lang="en-US" sz="1800" b="1" dirty="0">
                <a:solidFill>
                  <a:srgbClr val="1C7C7D"/>
                </a:solidFill>
              </a:rPr>
              <a:t>Acciones recomendadas</a:t>
            </a:r>
            <a:endParaRPr lang="en-US" sz="1800" dirty="0"/>
          </a:p>
        </p:txBody>
      </p:sp>
      <p:sp>
        <p:nvSpPr>
          <p:cNvPr id="9" name="Text 7"/>
          <p:cNvSpPr/>
          <p:nvPr/>
        </p:nvSpPr>
        <p:spPr>
          <a:xfrm>
            <a:off x="6309360" y="1600200"/>
            <a:ext cx="5166360" cy="2286000"/>
          </a:xfrm>
          <a:prstGeom prst="rect">
            <a:avLst/>
          </a:prstGeom>
          <a:noFill/>
          <a:ln/>
        </p:spPr>
        <p:txBody>
          <a:bodyPr wrap="square" lIns="635" tIns="635" rIns="635" bIns="635" rtlCol="0" anchor="t">
            <a:normAutofit/>
          </a:bodyPr>
          <a:lstStyle/>
          <a:p>
            <a:r>
              <a:rPr lang="en-US" sz="1400" dirty="0">
                <a:solidFill>
                  <a:srgbClr val="1A1F2B"/>
                </a:solidFill>
              </a:rPr>
              <a:t>Fidelización, beneficios premium y productos de mayor valor.</a:t>
            </a:r>
            <a:endParaRPr lang="en-US" sz="1400" dirty="0"/>
          </a:p>
          <a:p>
            <a:r>
              <a:rPr lang="en-US" sz="1400" dirty="0">
                <a:solidFill>
                  <a:srgbClr val="1A1F2B"/>
                </a:solidFill>
              </a:rPr>
              <a:t>Investigar causas de insatisfacción y mejorar experiencia.</a:t>
            </a:r>
            <a:endParaRPr lang="en-US" sz="1400" dirty="0"/>
          </a:p>
          <a:p>
            <a:r>
              <a:rPr lang="en-US" sz="1400" dirty="0">
                <a:solidFill>
                  <a:srgbClr val="1A1F2B"/>
                </a:solidFill>
              </a:rPr>
              <a:t>Campañas de conversión a suscripción o membresías.</a:t>
            </a:r>
            <a:endParaRPr lang="en-US" sz="1400" dirty="0"/>
          </a:p>
          <a:p>
            <a:r>
              <a:rPr lang="en-US" sz="1400" dirty="0">
                <a:solidFill>
                  <a:srgbClr val="1A1F2B"/>
                </a:solidFill>
              </a:rPr>
              <a:t>Usar el modelo como apoyo para priorizar, no como decisión automática.</a:t>
            </a:r>
            <a:endParaRPr lang="en-US" sz="1400" dirty="0"/>
          </a:p>
        </p:txBody>
      </p:sp>
      <p:sp>
        <p:nvSpPr>
          <p:cNvPr id="10" name="Shape 8"/>
          <p:cNvSpPr/>
          <p:nvPr/>
        </p:nvSpPr>
        <p:spPr>
          <a:xfrm>
            <a:off x="685800" y="4343400"/>
            <a:ext cx="10698480" cy="0"/>
          </a:xfrm>
          <a:prstGeom prst="line">
            <a:avLst/>
          </a:prstGeom>
          <a:noFill/>
          <a:ln w="12700">
            <a:solidFill>
              <a:srgbClr val="D8E1E8"/>
            </a:solidFill>
            <a:prstDash val="solid"/>
          </a:ln>
        </p:spPr>
      </p:sp>
      <p:sp>
        <p:nvSpPr>
          <p:cNvPr id="11" name="Text 9"/>
          <p:cNvSpPr/>
          <p:nvPr/>
        </p:nvSpPr>
        <p:spPr>
          <a:xfrm>
            <a:off x="685800" y="4754880"/>
            <a:ext cx="2286000" cy="292608"/>
          </a:xfrm>
          <a:prstGeom prst="rect">
            <a:avLst/>
          </a:prstGeom>
          <a:noFill/>
          <a:ln/>
        </p:spPr>
        <p:txBody>
          <a:bodyPr wrap="square" lIns="0" tIns="0" rIns="0" bIns="0" rtlCol="0" anchor="ctr"/>
          <a:lstStyle/>
          <a:p>
            <a:pPr marL="0" indent="0">
              <a:buNone/>
            </a:pPr>
            <a:r>
              <a:rPr lang="en-US" sz="1800" b="1" dirty="0">
                <a:solidFill>
                  <a:srgbClr val="1C7C7D"/>
                </a:solidFill>
              </a:rPr>
              <a:t>Idea central</a:t>
            </a:r>
            <a:endParaRPr lang="en-US" sz="1800" dirty="0"/>
          </a:p>
        </p:txBody>
      </p:sp>
      <p:sp>
        <p:nvSpPr>
          <p:cNvPr id="12" name="Text 10"/>
          <p:cNvSpPr/>
          <p:nvPr/>
        </p:nvSpPr>
        <p:spPr>
          <a:xfrm>
            <a:off x="3154680" y="4754880"/>
            <a:ext cx="8046720" cy="502920"/>
          </a:xfrm>
          <a:prstGeom prst="rect">
            <a:avLst/>
          </a:prstGeom>
          <a:noFill/>
          <a:ln/>
        </p:spPr>
        <p:txBody>
          <a:bodyPr wrap="square" lIns="0" tIns="0" rIns="0" bIns="0" rtlCol="0" anchor="ctr">
            <a:normAutofit/>
          </a:bodyPr>
          <a:lstStyle/>
          <a:p>
            <a:pPr marL="0" indent="0">
              <a:buNone/>
            </a:pPr>
            <a:r>
              <a:rPr lang="en-US" sz="1600" dirty="0">
                <a:solidFill>
                  <a:srgbClr val="1A1F2B"/>
                </a:solidFill>
              </a:rPr>
              <a:t>La segmentación permite diseñar acciones distintas para cada perfil y usar la predicción como apoyo para priorizar campañas.</a:t>
            </a:r>
            <a:endParaRPr lang="en-US" sz="1600" dirty="0"/>
          </a:p>
        </p:txBody>
      </p:sp>
      <p:sp>
        <p:nvSpPr>
          <p:cNvPr id="13" name="Text 11"/>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Alan Fernando Téllez Celaya</a:t>
            </a:r>
            <a:endParaRPr lang="en-US" sz="850" dirty="0"/>
          </a:p>
        </p:txBody>
      </p:sp>
      <p:sp>
        <p:nvSpPr>
          <p:cNvPr id="14" name="Text 12"/>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sp>
      <p:sp>
        <p:nvSpPr>
          <p:cNvPr id="3" name="Shape 1"/>
          <p:cNvSpPr/>
          <p:nvPr/>
        </p:nvSpPr>
        <p:spPr>
          <a:xfrm>
            <a:off x="0" y="0"/>
            <a:ext cx="146304" cy="6858000"/>
          </a:xfrm>
          <a:prstGeom prst="rect">
            <a:avLst/>
          </a:prstGeom>
          <a:solidFill>
            <a:srgbClr val="1C7C7D"/>
          </a:solidFill>
          <a:ln w="12700">
            <a:solidFill>
              <a:srgbClr val="1C7C7D">
                <a:alpha val="0"/>
              </a:srgbClr>
            </a:solidFill>
            <a:prstDash val="solid"/>
          </a:ln>
        </p:spPr>
      </p:sp>
      <p:sp>
        <p:nvSpPr>
          <p:cNvPr id="4" name="Text 2"/>
          <p:cNvSpPr/>
          <p:nvPr/>
        </p:nvSpPr>
        <p:spPr>
          <a:xfrm>
            <a:off x="502920" y="292608"/>
            <a:ext cx="11064240" cy="384048"/>
          </a:xfrm>
          <a:prstGeom prst="rect">
            <a:avLst/>
          </a:prstGeom>
          <a:noFill/>
          <a:ln/>
        </p:spPr>
        <p:txBody>
          <a:bodyPr wrap="square" lIns="0" tIns="0" rIns="0" bIns="0" rtlCol="0" anchor="ctr">
            <a:normAutofit lnSpcReduction="10000"/>
          </a:bodyPr>
          <a:lstStyle/>
          <a:p>
            <a:pPr marL="0" indent="0">
              <a:buNone/>
            </a:pPr>
            <a:r>
              <a:rPr lang="en-US" sz="2600" b="1" dirty="0">
                <a:solidFill>
                  <a:srgbClr val="153B50"/>
                </a:solidFill>
                <a:latin typeface="Aptos Display" pitchFamily="34" charset="0"/>
                <a:ea typeface="Aptos Display" pitchFamily="34" charset="-122"/>
                <a:cs typeface="Aptos Display" pitchFamily="34" charset="-120"/>
              </a:rPr>
              <a:t>Conclusiones, limitaciones y cierre</a:t>
            </a:r>
            <a:endParaRPr lang="en-US" sz="2600" dirty="0"/>
          </a:p>
        </p:txBody>
      </p:sp>
      <p:sp>
        <p:nvSpPr>
          <p:cNvPr id="5" name="Text 3"/>
          <p:cNvSpPr/>
          <p:nvPr/>
        </p:nvSpPr>
        <p:spPr>
          <a:xfrm>
            <a:off x="521208" y="749808"/>
            <a:ext cx="10972800" cy="256032"/>
          </a:xfrm>
          <a:prstGeom prst="rect">
            <a:avLst/>
          </a:prstGeom>
          <a:noFill/>
          <a:ln/>
        </p:spPr>
        <p:txBody>
          <a:bodyPr wrap="square" lIns="0" tIns="0" rIns="0" bIns="0" rtlCol="0" anchor="ctr">
            <a:normAutofit/>
          </a:bodyPr>
          <a:lstStyle/>
          <a:p>
            <a:pPr marL="0" indent="0">
              <a:buNone/>
            </a:pPr>
            <a:r>
              <a:rPr lang="en-US" sz="1250" dirty="0">
                <a:solidFill>
                  <a:srgbClr val="5E6975"/>
                </a:solidFill>
                <a:latin typeface="Aptos" pitchFamily="34" charset="0"/>
                <a:ea typeface="Aptos" pitchFamily="34" charset="-122"/>
                <a:cs typeface="Aptos" pitchFamily="34" charset="-120"/>
              </a:rPr>
              <a:t>Qué se descubrió y qué se debe mejorar</a:t>
            </a:r>
            <a:endParaRPr lang="en-US" sz="1250" dirty="0"/>
          </a:p>
        </p:txBody>
      </p:sp>
      <p:sp>
        <p:nvSpPr>
          <p:cNvPr id="6" name="Text 4"/>
          <p:cNvSpPr/>
          <p:nvPr/>
        </p:nvSpPr>
        <p:spPr>
          <a:xfrm>
            <a:off x="658368" y="1143000"/>
            <a:ext cx="3657600" cy="292608"/>
          </a:xfrm>
          <a:prstGeom prst="rect">
            <a:avLst/>
          </a:prstGeom>
          <a:noFill/>
          <a:ln/>
        </p:spPr>
        <p:txBody>
          <a:bodyPr wrap="square" lIns="0" tIns="0" rIns="0" bIns="0" rtlCol="0" anchor="ctr"/>
          <a:lstStyle/>
          <a:p>
            <a:pPr marL="0" indent="0">
              <a:buNone/>
            </a:pPr>
            <a:r>
              <a:rPr lang="en-US" sz="1800" b="1" dirty="0">
                <a:solidFill>
                  <a:srgbClr val="153B50"/>
                </a:solidFill>
              </a:rPr>
              <a:t>Conclusiones principales</a:t>
            </a:r>
            <a:endParaRPr lang="en-US" sz="1800" dirty="0"/>
          </a:p>
        </p:txBody>
      </p:sp>
      <p:sp>
        <p:nvSpPr>
          <p:cNvPr id="7" name="Text 5"/>
          <p:cNvSpPr/>
          <p:nvPr/>
        </p:nvSpPr>
        <p:spPr>
          <a:xfrm>
            <a:off x="658368" y="1600200"/>
            <a:ext cx="5166360" cy="2331720"/>
          </a:xfrm>
          <a:prstGeom prst="rect">
            <a:avLst/>
          </a:prstGeom>
          <a:noFill/>
          <a:ln/>
        </p:spPr>
        <p:txBody>
          <a:bodyPr wrap="square" lIns="635" tIns="635" rIns="635" bIns="635" rtlCol="0" anchor="t">
            <a:normAutofit/>
          </a:bodyPr>
          <a:lstStyle/>
          <a:p>
            <a:r>
              <a:rPr lang="en-US" sz="1350" dirty="0">
                <a:solidFill>
                  <a:srgbClr val="1A1F2B"/>
                </a:solidFill>
              </a:rPr>
              <a:t>El dataset permitió un análisis completo sin eliminar registros.</a:t>
            </a:r>
            <a:endParaRPr lang="en-US" sz="1350" dirty="0"/>
          </a:p>
          <a:p>
            <a:r>
              <a:rPr lang="en-US" sz="1350" dirty="0">
                <a:solidFill>
                  <a:srgbClr val="1A1F2B"/>
                </a:solidFill>
              </a:rPr>
              <a:t>K-Means identificó 4 perfiles de clientes diferenciados.</a:t>
            </a:r>
            <a:endParaRPr lang="en-US" sz="1350" dirty="0"/>
          </a:p>
          <a:p>
            <a:r>
              <a:rPr lang="en-US" sz="1350" dirty="0">
                <a:solidFill>
                  <a:srgbClr val="1A1F2B"/>
                </a:solidFill>
              </a:rPr>
              <a:t>Las correlaciones numéricas fueron débiles: los patrones no se explican con una sola variable.</a:t>
            </a:r>
            <a:endParaRPr lang="en-US" sz="1350" dirty="0"/>
          </a:p>
          <a:p>
            <a:r>
              <a:rPr lang="en-US" sz="1350" dirty="0">
                <a:solidFill>
                  <a:srgbClr val="1A1F2B"/>
                </a:solidFill>
              </a:rPr>
              <a:t>La regresión logística obtuvo 84.19% de exactitud, superando la referencia de 72.99%.</a:t>
            </a:r>
            <a:endParaRPr lang="en-US" sz="1350" dirty="0"/>
          </a:p>
        </p:txBody>
      </p:sp>
      <p:sp>
        <p:nvSpPr>
          <p:cNvPr id="8" name="Text 6"/>
          <p:cNvSpPr/>
          <p:nvPr/>
        </p:nvSpPr>
        <p:spPr>
          <a:xfrm>
            <a:off x="6400800" y="1143000"/>
            <a:ext cx="3657600" cy="292608"/>
          </a:xfrm>
          <a:prstGeom prst="rect">
            <a:avLst/>
          </a:prstGeom>
          <a:noFill/>
          <a:ln/>
        </p:spPr>
        <p:txBody>
          <a:bodyPr wrap="square" lIns="0" tIns="0" rIns="0" bIns="0" rtlCol="0" anchor="ctr"/>
          <a:lstStyle/>
          <a:p>
            <a:pPr marL="0" indent="0">
              <a:buNone/>
            </a:pPr>
            <a:r>
              <a:rPr lang="en-US" sz="1800" b="1" dirty="0">
                <a:solidFill>
                  <a:srgbClr val="153B50"/>
                </a:solidFill>
              </a:rPr>
              <a:t>Limitaciones</a:t>
            </a:r>
            <a:endParaRPr lang="en-US" sz="1800" dirty="0"/>
          </a:p>
        </p:txBody>
      </p:sp>
      <p:sp>
        <p:nvSpPr>
          <p:cNvPr id="9" name="Text 7"/>
          <p:cNvSpPr/>
          <p:nvPr/>
        </p:nvSpPr>
        <p:spPr>
          <a:xfrm>
            <a:off x="6400800" y="1600200"/>
            <a:ext cx="4846320" cy="2011680"/>
          </a:xfrm>
          <a:prstGeom prst="rect">
            <a:avLst/>
          </a:prstGeom>
          <a:noFill/>
          <a:ln/>
        </p:spPr>
        <p:txBody>
          <a:bodyPr wrap="square" lIns="635" tIns="635" rIns="635" bIns="635" rtlCol="0" anchor="t">
            <a:normAutofit/>
          </a:bodyPr>
          <a:lstStyle/>
          <a:p>
            <a:r>
              <a:rPr lang="en-US" sz="1350" dirty="0">
                <a:solidFill>
                  <a:srgbClr val="1A1F2B"/>
                </a:solidFill>
              </a:rPr>
              <a:t>Dataset sintético con fines educativos.</a:t>
            </a:r>
            <a:endParaRPr lang="en-US" sz="1350" dirty="0"/>
          </a:p>
          <a:p>
            <a:r>
              <a:rPr lang="en-US" sz="1350" dirty="0">
                <a:solidFill>
                  <a:srgbClr val="1A1F2B"/>
                </a:solidFill>
              </a:rPr>
              <a:t>Sin fechas: no se puede analizar evolución temporal.</a:t>
            </a:r>
            <a:endParaRPr lang="en-US" sz="1350" dirty="0"/>
          </a:p>
          <a:p>
            <a:r>
              <a:rPr lang="en-US" sz="1350" dirty="0">
                <a:solidFill>
                  <a:srgbClr val="1A1F2B"/>
                </a:solidFill>
              </a:rPr>
              <a:t>El codo no es totalmente marcado.</a:t>
            </a:r>
            <a:endParaRPr lang="en-US" sz="1350" dirty="0"/>
          </a:p>
          <a:p>
            <a:r>
              <a:rPr lang="en-US" sz="1350" dirty="0">
                <a:solidFill>
                  <a:srgbClr val="1A1F2B"/>
                </a:solidFill>
              </a:rPr>
              <a:t>El modelo generó 185 falsos positivos.</a:t>
            </a:r>
            <a:endParaRPr lang="en-US" sz="1350" dirty="0"/>
          </a:p>
        </p:txBody>
      </p:sp>
      <p:sp>
        <p:nvSpPr>
          <p:cNvPr id="10" name="Text 8"/>
          <p:cNvSpPr/>
          <p:nvPr/>
        </p:nvSpPr>
        <p:spPr>
          <a:xfrm>
            <a:off x="658368" y="4416552"/>
            <a:ext cx="3108960" cy="292608"/>
          </a:xfrm>
          <a:prstGeom prst="rect">
            <a:avLst/>
          </a:prstGeom>
          <a:noFill/>
          <a:ln/>
        </p:spPr>
        <p:txBody>
          <a:bodyPr wrap="square" lIns="0" tIns="0" rIns="0" bIns="0" rtlCol="0" anchor="ctr"/>
          <a:lstStyle/>
          <a:p>
            <a:pPr marL="0" indent="0">
              <a:buNone/>
            </a:pPr>
            <a:r>
              <a:rPr lang="en-US" sz="1800" b="1" dirty="0">
                <a:solidFill>
                  <a:srgbClr val="1C7C7D"/>
                </a:solidFill>
              </a:rPr>
              <a:t>Mejoras futuras</a:t>
            </a:r>
            <a:endParaRPr lang="en-US" sz="1800" dirty="0"/>
          </a:p>
        </p:txBody>
      </p:sp>
      <p:sp>
        <p:nvSpPr>
          <p:cNvPr id="11" name="Text 9"/>
          <p:cNvSpPr/>
          <p:nvPr/>
        </p:nvSpPr>
        <p:spPr>
          <a:xfrm>
            <a:off x="658368" y="4864608"/>
            <a:ext cx="10515600" cy="566928"/>
          </a:xfrm>
          <a:prstGeom prst="rect">
            <a:avLst/>
          </a:prstGeom>
          <a:noFill/>
          <a:ln/>
        </p:spPr>
        <p:txBody>
          <a:bodyPr wrap="square" lIns="0" tIns="0" rIns="0" bIns="0" rtlCol="0" anchor="ctr">
            <a:normAutofit/>
          </a:bodyPr>
          <a:lstStyle/>
          <a:p>
            <a:pPr marL="0" indent="0">
              <a:buNone/>
            </a:pPr>
            <a:r>
              <a:rPr lang="en-US" sz="1550" dirty="0">
                <a:solidFill>
                  <a:srgbClr val="1A1F2B"/>
                </a:solidFill>
              </a:rPr>
              <a:t>Validar K con silhouette score, comparar con otros modelos y utilizar datos reales con fechas, canales de venta y respuesta a campañas.</a:t>
            </a:r>
            <a:endParaRPr lang="en-US" sz="1550" dirty="0"/>
          </a:p>
        </p:txBody>
      </p:sp>
      <p:sp>
        <p:nvSpPr>
          <p:cNvPr id="12" name="Text 10"/>
          <p:cNvSpPr/>
          <p:nvPr/>
        </p:nvSpPr>
        <p:spPr>
          <a:xfrm>
            <a:off x="658368" y="5897880"/>
            <a:ext cx="10698480" cy="292608"/>
          </a:xfrm>
          <a:prstGeom prst="rect">
            <a:avLst/>
          </a:prstGeom>
          <a:noFill/>
          <a:ln/>
        </p:spPr>
        <p:txBody>
          <a:bodyPr wrap="square" lIns="0" tIns="0" rIns="0" bIns="0" rtlCol="0" anchor="ctr">
            <a:normAutofit/>
          </a:bodyPr>
          <a:lstStyle/>
          <a:p>
            <a:pPr marL="0" indent="0">
              <a:buNone/>
            </a:pPr>
            <a:r>
              <a:rPr lang="en-US" sz="880" dirty="0">
                <a:solidFill>
                  <a:srgbClr val="5E6975"/>
                </a:solidFill>
              </a:rPr>
              <a:t>Referencias: Banerjee, S. (s. f.). Customer shopping trends dataset [Conjunto de datos]. Kaggle. Universidad Tres Culturas. (2026). Guía de proyecto.</a:t>
            </a:r>
            <a:endParaRPr lang="en-US" sz="880" dirty="0"/>
          </a:p>
        </p:txBody>
      </p:sp>
      <p:sp>
        <p:nvSpPr>
          <p:cNvPr id="13" name="Text 11"/>
          <p:cNvSpPr/>
          <p:nvPr/>
        </p:nvSpPr>
        <p:spPr>
          <a:xfrm>
            <a:off x="502920" y="6510528"/>
            <a:ext cx="6126480" cy="228600"/>
          </a:xfrm>
          <a:prstGeom prst="rect">
            <a:avLst/>
          </a:prstGeom>
          <a:noFill/>
          <a:ln/>
        </p:spPr>
        <p:txBody>
          <a:bodyPr wrap="square" lIns="0" tIns="0" rIns="0" bIns="0" rtlCol="0" anchor="ctr">
            <a:normAutofit/>
          </a:bodyPr>
          <a:lstStyle/>
          <a:p>
            <a:pPr marL="0" indent="0">
              <a:buNone/>
            </a:pPr>
            <a:r>
              <a:rPr lang="en-US" sz="850" dirty="0">
                <a:solidFill>
                  <a:srgbClr val="6F7B87"/>
                </a:solidFill>
                <a:latin typeface="Aptos" pitchFamily="34" charset="0"/>
                <a:ea typeface="Aptos" pitchFamily="34" charset="-122"/>
                <a:cs typeface="Aptos" pitchFamily="34" charset="-120"/>
              </a:rPr>
              <a:t>Expone: Alan Fernando Téllez Celaya</a:t>
            </a:r>
            <a:endParaRPr lang="en-US" sz="850" dirty="0"/>
          </a:p>
        </p:txBody>
      </p:sp>
      <p:sp>
        <p:nvSpPr>
          <p:cNvPr id="14" name="Text 12"/>
          <p:cNvSpPr/>
          <p:nvPr/>
        </p:nvSpPr>
        <p:spPr>
          <a:xfrm>
            <a:off x="7818120" y="6510528"/>
            <a:ext cx="3840480" cy="228600"/>
          </a:xfrm>
          <a:prstGeom prst="rect">
            <a:avLst/>
          </a:prstGeom>
          <a:noFill/>
          <a:ln/>
        </p:spPr>
        <p:txBody>
          <a:bodyPr wrap="square" lIns="0" tIns="0" rIns="0" bIns="0" rtlCol="0" anchor="ctr">
            <a:normAutofit/>
          </a:bodyPr>
          <a:lstStyle/>
          <a:p>
            <a:pPr marL="0" indent="0" algn="r">
              <a:buNone/>
            </a:pPr>
            <a:r>
              <a:rPr lang="en-US" sz="850" dirty="0">
                <a:solidFill>
                  <a:srgbClr val="6F7B87"/>
                </a:solidFill>
                <a:latin typeface="Aptos" pitchFamily="34" charset="0"/>
                <a:ea typeface="Aptos" pitchFamily="34" charset="-122"/>
                <a:cs typeface="Aptos" pitchFamily="34" charset="-120"/>
              </a:rPr>
              <a:t>Customer Shopping Trends Dataset | K-Means + regresión logística</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1371</Words>
  <Application>Microsoft Office PowerPoint</Application>
  <PresentationFormat>Panorámica</PresentationFormat>
  <Paragraphs>209</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Aptos</vt:lpstr>
      <vt:lpstr>Aptos Display</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Tres Culturas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y segmentación del comportamiento de compra de clientes</dc:title>
  <dc:subject>Presentación proyecto final minería de datos</dc:subject>
  <dc:creator>ChatGPT</dc:creator>
  <cp:lastModifiedBy>VICTOR</cp:lastModifiedBy>
  <cp:revision>4</cp:revision>
  <dcterms:created xsi:type="dcterms:W3CDTF">2026-08-19T15:20:29Z</dcterms:created>
  <dcterms:modified xsi:type="dcterms:W3CDTF">2026-08-20T14:00:35Z</dcterms:modified>
</cp:coreProperties>
</file>